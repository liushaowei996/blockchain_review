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d5b46d88ee4425" /><Relationship Type="http://schemas.openxmlformats.org/officeDocument/2006/relationships/extended-properties" Target="/docProps/app.xml" Id="Rca596813142348dd" /><Relationship Type="http://schemas.openxmlformats.org/officeDocument/2006/relationships/officeDocument" Target="/ppt/presentation.xml" Id="R6f09d7543e0e42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a7368cd93c45d8"/>
  </p:sldMasterIdLst>
  <p:notesMasterIdLst>
    <p:notesMasterId xmlns:r="http://schemas.openxmlformats.org/officeDocument/2006/relationships" r:id="Rdae46f82c51141eb"/>
  </p:notesMasterIdLst>
  <p:sldIdLst>
    <p:sldId xmlns:r="http://schemas.openxmlformats.org/officeDocument/2006/relationships" id="256" r:id="R69427c8d85fe4bab"/>
    <p:sldId xmlns:r="http://schemas.openxmlformats.org/officeDocument/2006/relationships" id="257" r:id="Rf4e75067cb8b46b5"/>
    <p:sldId xmlns:r="http://schemas.openxmlformats.org/officeDocument/2006/relationships" id="258" r:id="Rafa70566a51f4b3b"/>
    <p:sldId xmlns:r="http://schemas.openxmlformats.org/officeDocument/2006/relationships" id="259" r:id="R503aa98cca294ee2"/>
    <p:sldId xmlns:r="http://schemas.openxmlformats.org/officeDocument/2006/relationships" id="260" r:id="R3fbe0032e2254e92"/>
    <p:sldId xmlns:r="http://schemas.openxmlformats.org/officeDocument/2006/relationships" id="261" r:id="R4270b184a89e4e18"/>
    <p:sldId xmlns:r="http://schemas.openxmlformats.org/officeDocument/2006/relationships" id="262" r:id="Rf762dd1ec4f84b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4f6bda43a0405c" /><Relationship Type="http://schemas.openxmlformats.org/officeDocument/2006/relationships/slideMaster" Target="/ppt/slideMasters/slideMaster1.xml" Id="R56a7368cd93c45d8" /><Relationship Type="http://schemas.openxmlformats.org/officeDocument/2006/relationships/notesMaster" Target="/ppt/notesMasters/notesMaster1.xml" Id="Rdae46f82c51141eb" /><Relationship Type="http://schemas.openxmlformats.org/officeDocument/2006/relationships/presProps" Target="/ppt/presProps.xml" Id="R782164ec7eb7489c" /><Relationship Type="http://schemas.openxmlformats.org/officeDocument/2006/relationships/tableStyles" Target="/ppt/tableStyles.xml" Id="R9aba58cc84b948a5" /><Relationship Type="http://schemas.openxmlformats.org/officeDocument/2006/relationships/slide" Target="/ppt/slides/slide1.xml" Id="R69427c8d85fe4bab" /><Relationship Type="http://schemas.openxmlformats.org/officeDocument/2006/relationships/slide" Target="/ppt/slides/slide2.xml" Id="Rf4e75067cb8b46b5" /><Relationship Type="http://schemas.openxmlformats.org/officeDocument/2006/relationships/slide" Target="/ppt/slides/slide3.xml" Id="Rafa70566a51f4b3b" /><Relationship Type="http://schemas.openxmlformats.org/officeDocument/2006/relationships/slide" Target="/ppt/slides/slide4.xml" Id="R503aa98cca294ee2" /><Relationship Type="http://schemas.openxmlformats.org/officeDocument/2006/relationships/slide" Target="/ppt/slides/slide5.xml" Id="R3fbe0032e2254e92" /><Relationship Type="http://schemas.openxmlformats.org/officeDocument/2006/relationships/slide" Target="/ppt/slides/slide6.xml" Id="R4270b184a89e4e18" /><Relationship Type="http://schemas.openxmlformats.org/officeDocument/2006/relationships/slide" Target="/ppt/slides/slide7.xml" Id="Rf762dd1ec4f84b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e3499b247348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59140a67f240e5" /><Relationship Type="http://schemas.openxmlformats.org/officeDocument/2006/relationships/notesMaster" Target="/ppt/notesMasters/notesMaster1.xml" Id="Rbc21b17ce6e148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b9deb10bf8488c" /><Relationship Type="http://schemas.openxmlformats.org/officeDocument/2006/relationships/notesMaster" Target="/ppt/notesMasters/notesMaster1.xml" Id="Rd1648d3cb3b242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092501a8594da8" /><Relationship Type="http://schemas.openxmlformats.org/officeDocument/2006/relationships/notesMaster" Target="/ppt/notesMasters/notesMaster1.xml" Id="Ra42f7aae2a5947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86a22799fe4743" /><Relationship Type="http://schemas.openxmlformats.org/officeDocument/2006/relationships/notesMaster" Target="/ppt/notesMasters/notesMaster1.xml" Id="R2be2120649554e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988b5f41974519" /><Relationship Type="http://schemas.openxmlformats.org/officeDocument/2006/relationships/notesMaster" Target="/ppt/notesMasters/notesMaster1.xml" Id="Rd8e10f43dcc542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0c8dd670c84f0d" /><Relationship Type="http://schemas.openxmlformats.org/officeDocument/2006/relationships/notesMaster" Target="/ppt/notesMasters/notesMaster1.xml" Id="R8f399b02172d47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29ac12ec034ef7" /><Relationship Type="http://schemas.openxmlformats.org/officeDocument/2006/relationships/notesMaster" Target="/ppt/notesMasters/notesMaster1.xml" Id="R65ecab9c82d54c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 concept: output/imagegen/figure-concepts/figure-01-reference-architecture.png</a:t>
            </a:r>
          </a:p>
          <a:p xmlns:a="http://schemas.openxmlformats.org/drawingml/2006/main">
            <a:r>
              <a:t>- Diagram content: manuscript captions and figure source files in manuscript/figures/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 concept: output/imagegen/figure-concepts/figure-02-assurance-chain.png</a:t>
            </a:r>
          </a:p>
          <a:p xmlns:a="http://schemas.openxmlformats.org/drawingml/2006/main">
            <a:r>
              <a:t>- Diagram content: manuscript captions and figure source files in manuscript/figures/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 concept: output/imagegen/figure-concepts/figure-03-oal-framework.png</a:t>
            </a:r>
          </a:p>
          <a:p xmlns:a="http://schemas.openxmlformats.org/drawingml/2006/main">
            <a:r>
              <a:t>- Diagram content: manuscript captions and figure source files in manuscript/figures/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 concept: output/imagegen/figure-concepts/figure-04-dependency-threat.png</a:t>
            </a:r>
          </a:p>
          <a:p xmlns:a="http://schemas.openxmlformats.org/drawingml/2006/main">
            <a:r>
              <a:t>- Diagram content: manuscript captions and figure source files in manuscript/figures/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 concept: output/imagegen/figure-concepts/figure-05-ctg-reasoning-loop.png</a:t>
            </a:r>
          </a:p>
          <a:p xmlns:a="http://schemas.openxmlformats.org/drawingml/2006/main">
            <a:r>
              <a:t>- Diagram content: manuscript captions and figure source files in manuscript/figures/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 concept: output/imagegen/figure-concepts/figure-06-blockchain-boundary.png</a:t>
            </a:r>
          </a:p>
          <a:p xmlns:a="http://schemas.openxmlformats.org/drawingml/2006/main">
            <a:r>
              <a:t>- Diagram content: manuscript captions and figure source files in manuscript/figures/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 concept: output/imagegen/figure-concepts/figure-07-evidence-maturity.png</a:t>
            </a:r>
          </a:p>
          <a:p xmlns:a="http://schemas.openxmlformats.org/drawingml/2006/main">
            <a:r>
              <a:t>- Diagram content: manuscript captions and figure source files in manuscript/figures/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dcd21f744a4f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bdae1ef2644fd8" /><Relationship Type="http://schemas.openxmlformats.org/officeDocument/2006/relationships/slideLayout" Target="/ppt/slideLayouts/slideLayout1.xml" Id="Rebebe123553244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ebe123553244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27a54215a4ff2" /><Relationship Type="http://schemas.openxmlformats.org/officeDocument/2006/relationships/notesSlide" Target="/ppt/notesSlides/notesSlide1.xml" Id="R161f71d0e01645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2215725214a9a" /><Relationship Type="http://schemas.openxmlformats.org/officeDocument/2006/relationships/notesSlide" Target="/ppt/notesSlides/notesSlide2.xml" Id="Reb2755ee6ea749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0e755974f4c92" /><Relationship Type="http://schemas.openxmlformats.org/officeDocument/2006/relationships/notesSlide" Target="/ppt/notesSlides/notesSlide3.xml" Id="Rb49814698fdf44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9d12b90294755" /><Relationship Type="http://schemas.openxmlformats.org/officeDocument/2006/relationships/notesSlide" Target="/ppt/notesSlides/notesSlide4.xml" Id="R23759655a9e345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fef0e758349c4" /><Relationship Type="http://schemas.openxmlformats.org/officeDocument/2006/relationships/notesSlide" Target="/ppt/notesSlides/notesSlide5.xml" Id="Reb12f3bb7ac840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29cf0fcae4a2b" /><Relationship Type="http://schemas.openxmlformats.org/officeDocument/2006/relationships/notesSlide" Target="/ppt/notesSlides/notesSlide6.xml" Id="Ree5a04336e664f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d4c08d7ee49b2" /><Relationship Type="http://schemas.openxmlformats.org/officeDocument/2006/relationships/notesSlide" Target="/ppt/notesSlides/notesSlide7.xml" Id="R1c3afd94b97341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figure-1-eyebrow">
            <a:extLst xmlns:a="http://schemas.openxmlformats.org/drawingml/2006/main">
              <a:ext uri="{FF2B5EF4-FFF2-40B4-BE49-F238E27FC236}">
                <a16:creationId xmlns:a16="http://schemas.microsoft.com/office/drawing/2014/main" id="{679CB997-5A29-4D23-9533-C16CE2B6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68E"/>
                </a:solidFill>
              </a:defRPr>
            </a:pPr>
            <a:r>
              <a:rPr sz="1125" b="1">
                <a:solidFill>
                  <a:srgbClr val="16868E"/>
                </a:solidFill>
              </a:rPr>
              <a:t>FIGURE 1</a:t>
            </a:r>
          </a:p>
        </p:txBody>
      </p:sp>
      <p:sp>
        <p:nvSpPr>
          <p:cNvPr id="2" name="figure-1-title">
            <a:extLst xmlns:a="http://schemas.openxmlformats.org/drawingml/2006/main">
              <a:ext uri="{FF2B5EF4-FFF2-40B4-BE49-F238E27FC236}">
                <a16:creationId xmlns:a16="http://schemas.microsoft.com/office/drawing/2014/main" id="{2ECD2AD5-BB87-41EE-B69C-500B63E1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52"/>
                </a:solidFill>
              </a:defRPr>
            </a:pPr>
            <a:r>
              <a:rPr sz="2700" b="1">
                <a:solidFill>
                  <a:srgbClr val="123052"/>
                </a:solidFill>
              </a:rPr>
              <a:t>Cross-domain reference architecture</a:t>
            </a:r>
          </a:p>
        </p:txBody>
      </p:sp>
      <p:sp>
        <p:nvSpPr>
          <p:cNvPr id="3" name="figure-1-accent">
            <a:extLst xmlns:a="http://schemas.openxmlformats.org/drawingml/2006/main">
              <a:ext uri="{FF2B5EF4-FFF2-40B4-BE49-F238E27FC236}">
                <a16:creationId xmlns:a16="http://schemas.microsoft.com/office/drawing/2014/main" id="{E82C5B80-FF78-4223-9733-8B790D08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4" name="assurance-boundary">
            <a:extLst xmlns:a="http://schemas.openxmlformats.org/drawingml/2006/main">
              <a:ext uri="{FF2B5EF4-FFF2-40B4-BE49-F238E27FC236}">
                <a16:creationId xmlns:a16="http://schemas.microsoft.com/office/drawing/2014/main" id="{22849018-5822-4998-AE88-6FD7DCFF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11239500" cy="4953000"/>
          </a:xfrm>
          <a:prstGeom xmlns:a="http://schemas.openxmlformats.org/drawingml/2006/main" prst="roundRect">
            <a:avLst>
              <a:gd name="adj" fmla="val 461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9D8BCC"/>
            </a:solidFill>
            <a:prstDash val="dash"/>
          </a:ln>
        </p:spPr>
      </p:sp>
      <p:sp>
        <p:nvSpPr>
          <p:cNvPr id="5" name="uav-domain">
            <a:extLst xmlns:a="http://schemas.openxmlformats.org/drawingml/2006/main">
              <a:ext uri="{FF2B5EF4-FFF2-40B4-BE49-F238E27FC236}">
                <a16:creationId xmlns:a16="http://schemas.microsoft.com/office/drawing/2014/main" id="{2C3ED01A-8047-4DD8-B691-3E378532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4095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8DB9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UAV</a:t>
            </a:r>
          </a:p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radio + optical sensing</a:t>
            </a:r>
          </a:p>
        </p:txBody>
      </p:sp>
      <p:sp>
        <p:nvSpPr>
          <p:cNvPr id="6" name="usv-domain">
            <a:extLst xmlns:a="http://schemas.openxmlformats.org/drawingml/2006/main">
              <a:ext uri="{FF2B5EF4-FFF2-40B4-BE49-F238E27FC236}">
                <a16:creationId xmlns:a16="http://schemas.microsoft.com/office/drawing/2014/main" id="{F605C1A6-D101-4618-BFC5-72E52347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4095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6193">
            <a:solidFill>
              <a:srgbClr val="79C6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USV GATEWAY</a:t>
            </a:r>
          </a:p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edge validation + cache</a:t>
            </a:r>
          </a:p>
        </p:txBody>
      </p:sp>
      <p:sp>
        <p:nvSpPr>
          <p:cNvPr id="7" name="uuv-domain">
            <a:extLst xmlns:a="http://schemas.openxmlformats.org/drawingml/2006/main">
              <a:ext uri="{FF2B5EF4-FFF2-40B4-BE49-F238E27FC236}">
                <a16:creationId xmlns:a16="http://schemas.microsoft.com/office/drawing/2014/main" id="{125650DA-8235-4859-9B05-A1E3EC40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4095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E8F5F8"/>
          </a:solidFill>
          <a:ln xmlns:a="http://schemas.openxmlformats.org/drawingml/2006/main" w="16193">
            <a:solidFill>
              <a:srgbClr val="77BE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UUV / AUV</a:t>
            </a:r>
          </a:p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acoustic + optical links</a:t>
            </a:r>
          </a:p>
        </p:txBody>
      </p:sp>
      <p:sp>
        <p:nvSpPr>
          <p:cNvPr id="8" name="satellite">
            <a:extLst xmlns:a="http://schemas.openxmlformats.org/drawingml/2006/main">
              <a:ext uri="{FF2B5EF4-FFF2-40B4-BE49-F238E27FC236}">
                <a16:creationId xmlns:a16="http://schemas.microsoft.com/office/drawing/2014/main" id="{916606D4-7978-496B-B01C-A8FC4A1C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71625"/>
            <a:ext cx="1714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SATELLITE / HAPS</a:t>
            </a:r>
          </a:p>
        </p:txBody>
      </p:sp>
      <p:sp>
        <p:nvSpPr>
          <p:cNvPr id="9" name="shore-services">
            <a:extLst xmlns:a="http://schemas.openxmlformats.org/drawingml/2006/main">
              <a:ext uri="{FF2B5EF4-FFF2-40B4-BE49-F238E27FC236}">
                <a16:creationId xmlns:a16="http://schemas.microsoft.com/office/drawing/2014/main" id="{22C2BB39-5EE4-43C9-BB62-C8B5B140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333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052"/>
                </a:solidFill>
              </a:defRPr>
            </a:pPr>
            <a:r>
              <a:rPr sz="1575" b="1">
                <a:solidFill>
                  <a:srgbClr val="123052"/>
                </a:solidFill>
              </a:rPr>
              <a:t>SHORE SERVICES</a:t>
            </a:r>
          </a:p>
        </p:txBody>
      </p:sp>
      <p:sp>
        <p:nvSpPr>
          <p:cNvPr id="10" name="policy-ledger">
            <a:extLst xmlns:a="http://schemas.openxmlformats.org/drawingml/2006/main">
              <a:ext uri="{FF2B5EF4-FFF2-40B4-BE49-F238E27FC236}">
                <a16:creationId xmlns:a16="http://schemas.microsoft.com/office/drawing/2014/main" id="{626A25A7-B3DC-429E-AEEB-55A54580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333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6193">
            <a:solidFill>
              <a:srgbClr val="6E4A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052"/>
                </a:solidFill>
              </a:defRPr>
            </a:pPr>
            <a:r>
              <a:rPr sz="1575" b="1">
                <a:solidFill>
                  <a:srgbClr val="123052"/>
                </a:solidFill>
              </a:rPr>
              <a:t>POLICY + LEDGER</a:t>
            </a:r>
          </a:p>
        </p:txBody>
      </p:sp>
      <p:sp>
        <p:nvSpPr>
          <p:cNvPr id="11" name="evidence-store">
            <a:extLst xmlns:a="http://schemas.openxmlformats.org/drawingml/2006/main">
              <a:ext uri="{FF2B5EF4-FFF2-40B4-BE49-F238E27FC236}">
                <a16:creationId xmlns:a16="http://schemas.microsoft.com/office/drawing/2014/main" id="{DE37B34F-DEB7-4F08-A8D8-7FE2C31F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3333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6193">
            <a:solidFill>
              <a:srgbClr val="1686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052"/>
                </a:solidFill>
              </a:defRPr>
            </a:pPr>
            <a:r>
              <a:rPr sz="1500" b="1">
                <a:solidFill>
                  <a:srgbClr val="123052"/>
                </a:solidFill>
              </a:rPr>
              <a:t>ENCRYPTED EVIDENCE STORE</a:t>
            </a:r>
          </a:p>
        </p:txBody>
      </p:sp>
      <p:sp>
        <p:nvSpPr>
          <p:cNvPr id="12" name="auditor">
            <a:extLst xmlns:a="http://schemas.openxmlformats.org/drawingml/2006/main">
              <a:ext uri="{FF2B5EF4-FFF2-40B4-BE49-F238E27FC236}">
                <a16:creationId xmlns:a16="http://schemas.microsoft.com/office/drawing/2014/main" id="{3E8E020A-82D7-4513-BB16-17B81A65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3333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6193">
            <a:solidFill>
              <a:srgbClr val="D881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052"/>
                </a:solidFill>
              </a:defRPr>
            </a:pPr>
            <a:r>
              <a:rPr sz="1575" b="1">
                <a:solidFill>
                  <a:srgbClr val="123052"/>
                </a:solidFill>
              </a:rPr>
              <a:t>AUDITOR / OPERATOR</a:t>
            </a:r>
          </a:p>
        </p:txBody>
      </p:sp>
      <p:cxnSp>
        <p:nvCxnSpPr>
          <p:cNvPr id="34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857500" y="2647950"/>
            <a:ext cx="619125" cy="447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1769AA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2857500" y="4219575"/>
            <a:ext cx="619125" cy="447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39AFC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524500" y="2867025"/>
            <a:ext cx="2000250" cy="790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6868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905375" y="1819275"/>
            <a:ext cx="381000" cy="266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769AA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00875" y="1819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9AA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0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9191625" y="22098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E4AA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9191625" y="32575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E4AA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191625" y="43053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8811B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assurance-label">
            <a:extLst xmlns:a="http://schemas.openxmlformats.org/drawingml/2006/main">
              <a:ext uri="{FF2B5EF4-FFF2-40B4-BE49-F238E27FC236}">
                <a16:creationId xmlns:a16="http://schemas.microsoft.com/office/drawing/2014/main" id="{5998FE08-D141-48A3-9E0E-6BEDC9E7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838825"/>
            <a:ext cx="3810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6193">
            <a:solidFill>
              <a:srgbClr val="9D8B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E4AA5"/>
                </a:solidFill>
              </a:defRPr>
            </a:pPr>
            <a:r>
              <a:rPr sz="1275" b="1">
                <a:solidFill>
                  <a:srgbClr val="6E4AA5"/>
                </a:solidFill>
              </a:rPr>
              <a:t>ASSURANCE + GOVERNANCE</a:t>
            </a:r>
          </a:p>
        </p:txBody>
      </p:sp>
    </p:spTree>
    <p:extLst>
      <p:ext uri="{BB962C8B-B14F-4D97-AF65-F5344CB8AC3E}">
        <p14:creationId xmlns:p14="http://schemas.microsoft.com/office/powerpoint/2010/main" val="1287899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figure-2-eyebrow">
            <a:extLst xmlns:a="http://schemas.openxmlformats.org/drawingml/2006/main">
              <a:ext uri="{FF2B5EF4-FFF2-40B4-BE49-F238E27FC236}">
                <a16:creationId xmlns:a16="http://schemas.microsoft.com/office/drawing/2014/main" id="{0E053713-9959-48F6-998A-06F74B44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68E"/>
                </a:solidFill>
              </a:defRPr>
            </a:pPr>
            <a:r>
              <a:rPr sz="1125" b="1">
                <a:solidFill>
                  <a:srgbClr val="16868E"/>
                </a:solidFill>
              </a:rPr>
              <a:t>FIGURE 2</a:t>
            </a:r>
          </a:p>
        </p:txBody>
      </p:sp>
      <p:sp>
        <p:nvSpPr>
          <p:cNvPr id="2" name="figure-2-title">
            <a:extLst xmlns:a="http://schemas.openxmlformats.org/drawingml/2006/main">
              <a:ext uri="{FF2B5EF4-FFF2-40B4-BE49-F238E27FC236}">
                <a16:creationId xmlns:a16="http://schemas.microsoft.com/office/drawing/2014/main" id="{E5DCF907-3D78-4822-B9B8-6510B103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52"/>
                </a:solidFill>
              </a:defRPr>
            </a:pPr>
            <a:r>
              <a:rPr sz="2700" b="1">
                <a:solidFill>
                  <a:srgbClr val="123052"/>
                </a:solidFill>
              </a:rPr>
              <a:t>Four-layer assurance chain</a:t>
            </a:r>
          </a:p>
        </p:txBody>
      </p:sp>
      <p:sp>
        <p:nvSpPr>
          <p:cNvPr id="3" name="figure-2-accent">
            <a:extLst xmlns:a="http://schemas.openxmlformats.org/drawingml/2006/main">
              <a:ext uri="{FF2B5EF4-FFF2-40B4-BE49-F238E27FC236}">
                <a16:creationId xmlns:a16="http://schemas.microsoft.com/office/drawing/2014/main" id="{E4B9403A-08D4-4499-964E-E12D859D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4" name="assurance-main-1">
            <a:extLst xmlns:a="http://schemas.openxmlformats.org/drawingml/2006/main">
              <a:ext uri="{FF2B5EF4-FFF2-40B4-BE49-F238E27FC236}">
                <a16:creationId xmlns:a16="http://schemas.microsoft.com/office/drawing/2014/main" id="{3F1FCD4A-41A8-4D03-A9F2-D5429970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38375" cy="1666875"/>
          </a:xfrm>
          <a:prstGeom xmlns:a="http://schemas.openxmlformats.org/drawingml/2006/main" prst="roundRect">
            <a:avLst>
              <a:gd name="adj" fmla="val 1371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1</a:t>
            </a:r>
          </a:p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OBSERVATION</a:t>
            </a:r>
          </a:p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VALIDITY</a:t>
            </a:r>
          </a:p>
        </p:txBody>
      </p:sp>
      <p:sp>
        <p:nvSpPr>
          <p:cNvPr id="5" name="assurance-support-1">
            <a:extLst xmlns:a="http://schemas.openxmlformats.org/drawingml/2006/main">
              <a:ext uri="{FF2B5EF4-FFF2-40B4-BE49-F238E27FC236}">
                <a16:creationId xmlns:a16="http://schemas.microsoft.com/office/drawing/2014/main" id="{2947A1B8-A08D-4FA1-B6C6-0F36056C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2238375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6193">
            <a:solidFill>
              <a:srgbClr val="1686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868E"/>
                </a:solidFill>
              </a:defRPr>
            </a:pPr>
            <a:r>
              <a:rPr sz="1575" b="1">
                <a:solidFill>
                  <a:srgbClr val="16868E"/>
                </a:solidFill>
              </a:rPr>
              <a:t>Physical</a:t>
            </a:r>
          </a:p>
          <a:p xmlns:a="http://schemas.openxmlformats.org/drawingml/2006/main">
            <a:pPr algn="ctr">
              <a:defRPr sz="1575" b="1">
                <a:solidFill>
                  <a:srgbClr val="16868E"/>
                </a:solidFill>
              </a:defRPr>
            </a:pPr>
            <a:r>
              <a:rPr sz="1575" b="1">
                <a:solidFill>
                  <a:srgbClr val="16868E"/>
                </a:solidFill>
              </a:rPr>
              <a:t>Corroboration</a:t>
            </a:r>
          </a:p>
        </p:txBody>
      </p:sp>
      <p:cxnSp>
        <p:nvCxnSpPr>
          <p:cNvPr id="25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785938" y="338137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868E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7" name="assurance-main-2">
            <a:extLst xmlns:a="http://schemas.openxmlformats.org/drawingml/2006/main">
              <a:ext uri="{FF2B5EF4-FFF2-40B4-BE49-F238E27FC236}">
                <a16:creationId xmlns:a16="http://schemas.microsoft.com/office/drawing/2014/main" id="{82648F47-44A5-409E-91D2-FA530DFD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238375" cy="1666875"/>
          </a:xfrm>
          <a:prstGeom xmlns:a="http://schemas.openxmlformats.org/drawingml/2006/main" prst="roundRect">
            <a:avLst>
              <a:gd name="adj" fmla="val 1371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2</a:t>
            </a:r>
          </a:p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PROVENANCE</a:t>
            </a:r>
          </a:p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INTEGRITY</a:t>
            </a:r>
          </a:p>
        </p:txBody>
      </p:sp>
      <p:sp>
        <p:nvSpPr>
          <p:cNvPr id="8" name="assurance-support-2">
            <a:extLst xmlns:a="http://schemas.openxmlformats.org/drawingml/2006/main">
              <a:ext uri="{FF2B5EF4-FFF2-40B4-BE49-F238E27FC236}">
                <a16:creationId xmlns:a16="http://schemas.microsoft.com/office/drawing/2014/main" id="{C879435D-BB5B-4137-BD32-EA61B249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33875"/>
            <a:ext cx="2238375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6193">
            <a:solidFill>
              <a:srgbClr val="6E4A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E4AA5"/>
                </a:solidFill>
              </a:defRPr>
            </a:pPr>
            <a:r>
              <a:rPr sz="1575" b="1">
                <a:solidFill>
                  <a:srgbClr val="6E4AA5"/>
                </a:solidFill>
              </a:rPr>
              <a:t>Privacy</a:t>
            </a:r>
          </a:p>
          <a:p xmlns:a="http://schemas.openxmlformats.org/drawingml/2006/main">
            <a:pPr algn="ctr">
              <a:defRPr sz="1575" b="1">
                <a:solidFill>
                  <a:srgbClr val="6E4AA5"/>
                </a:solidFill>
              </a:defRPr>
            </a:pPr>
            <a:r>
              <a:rPr sz="1575" b="1">
                <a:solidFill>
                  <a:srgbClr val="6E4AA5"/>
                </a:solidFill>
              </a:rPr>
              <a:t>Controls</a:t>
            </a:r>
          </a:p>
        </p:txBody>
      </p: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643438" y="338137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E4AA5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05125" y="254793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AA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assurance-main-3">
            <a:extLst xmlns:a="http://schemas.openxmlformats.org/drawingml/2006/main">
              <a:ext uri="{FF2B5EF4-FFF2-40B4-BE49-F238E27FC236}">
                <a16:creationId xmlns:a16="http://schemas.microsoft.com/office/drawing/2014/main" id="{B09B98BF-B986-40A6-A67D-DE12B053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238375" cy="1666875"/>
          </a:xfrm>
          <a:prstGeom xmlns:a="http://schemas.openxmlformats.org/drawingml/2006/main" prst="roundRect">
            <a:avLst>
              <a:gd name="adj" fmla="val 1371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3</a:t>
            </a:r>
          </a:p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LEDGER</a:t>
            </a:r>
          </a:p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CONSISTENCY</a:t>
            </a:r>
          </a:p>
        </p:txBody>
      </p:sp>
      <p:sp>
        <p:nvSpPr>
          <p:cNvPr id="12" name="assurance-support-3">
            <a:extLst xmlns:a="http://schemas.openxmlformats.org/drawingml/2006/main">
              <a:ext uri="{FF2B5EF4-FFF2-40B4-BE49-F238E27FC236}">
                <a16:creationId xmlns:a16="http://schemas.microsoft.com/office/drawing/2014/main" id="{6742DECF-885F-45DF-B5A4-A134289C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33875"/>
            <a:ext cx="2238375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6193">
            <a:solidFill>
              <a:srgbClr val="D881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8811B"/>
                </a:solidFill>
              </a:defRPr>
            </a:pPr>
            <a:r>
              <a:rPr sz="1575" b="1">
                <a:solidFill>
                  <a:srgbClr val="D8811B"/>
                </a:solidFill>
              </a:rPr>
              <a:t>Endpoint</a:t>
            </a:r>
          </a:p>
          <a:p xmlns:a="http://schemas.openxmlformats.org/drawingml/2006/main">
            <a:pPr algn="ctr">
              <a:defRPr sz="1575" b="1">
                <a:solidFill>
                  <a:srgbClr val="D8811B"/>
                </a:solidFill>
              </a:defRPr>
            </a:pPr>
            <a:r>
              <a:rPr sz="1575" b="1">
                <a:solidFill>
                  <a:srgbClr val="D8811B"/>
                </a:solidFill>
              </a:rPr>
              <a:t>Integrity</a:t>
            </a:r>
          </a:p>
        </p:txBody>
      </p:sp>
      <p:cxnSp>
        <p:nvCxnSpPr>
          <p:cNvPr id="32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500938" y="338137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8811B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62625" y="254793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AA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assurance-main-4">
            <a:extLst xmlns:a="http://schemas.openxmlformats.org/drawingml/2006/main">
              <a:ext uri="{FF2B5EF4-FFF2-40B4-BE49-F238E27FC236}">
                <a16:creationId xmlns:a16="http://schemas.microsoft.com/office/drawing/2014/main" id="{86EF9B36-4D45-4205-8BC2-92D71446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238375" cy="1666875"/>
          </a:xfrm>
          <a:prstGeom xmlns:a="http://schemas.openxmlformats.org/drawingml/2006/main" prst="roundRect">
            <a:avLst>
              <a:gd name="adj" fmla="val 1371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4</a:t>
            </a:r>
          </a:p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MISSION</a:t>
            </a:r>
          </a:p>
          <a:p xmlns:a="http://schemas.openxmlformats.org/drawingml/2006/main">
            <a:pPr algn="ctr">
              <a:defRPr sz="1650" b="1">
                <a:solidFill>
                  <a:srgbClr val="123052"/>
                </a:solidFill>
              </a:defRPr>
            </a:pPr>
            <a:r>
              <a:rPr sz="1650" b="1">
                <a:solidFill>
                  <a:srgbClr val="123052"/>
                </a:solidFill>
              </a:rPr>
              <a:t>SUITABILITY</a:t>
            </a:r>
          </a:p>
        </p:txBody>
      </p:sp>
      <p:sp>
        <p:nvSpPr>
          <p:cNvPr id="16" name="assurance-support-4">
            <a:extLst xmlns:a="http://schemas.openxmlformats.org/drawingml/2006/main">
              <a:ext uri="{FF2B5EF4-FFF2-40B4-BE49-F238E27FC236}">
                <a16:creationId xmlns:a16="http://schemas.microsoft.com/office/drawing/2014/main" id="{B9F23A88-09D3-4899-B1CC-C6E9C0FF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2238375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FDECE7"/>
          </a:solidFill>
          <a:ln xmlns:a="http://schemas.openxmlformats.org/drawingml/2006/main" w="16193">
            <a:solidFill>
              <a:srgbClr val="E76F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76F51"/>
                </a:solidFill>
              </a:defRPr>
            </a:pPr>
            <a:r>
              <a:rPr sz="1575" b="1">
                <a:solidFill>
                  <a:srgbClr val="E76F51"/>
                </a:solidFill>
              </a:rPr>
              <a:t>Context +</a:t>
            </a:r>
          </a:p>
          <a:p xmlns:a="http://schemas.openxmlformats.org/drawingml/2006/main">
            <a:pPr algn="ctr">
              <a:defRPr sz="1575" b="1">
                <a:solidFill>
                  <a:srgbClr val="E76F51"/>
                </a:solidFill>
              </a:defRPr>
            </a:pPr>
            <a:r>
              <a:rPr sz="1575" b="1">
                <a:solidFill>
                  <a:srgbClr val="E76F51"/>
                </a:solidFill>
              </a:rPr>
              <a:t>Consequence</a:t>
            </a:r>
          </a:p>
        </p:txBody>
      </p:sp>
      <p:cxnSp>
        <p:nvCxnSpPr>
          <p:cNvPr id="36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0358438" y="338137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E76F51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20125" y="254793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9AA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decision-outcome">
            <a:extLst xmlns:a="http://schemas.openxmlformats.org/drawingml/2006/main">
              <a:ext uri="{FF2B5EF4-FFF2-40B4-BE49-F238E27FC236}">
                <a16:creationId xmlns:a16="http://schemas.microsoft.com/office/drawing/2014/main" id="{F390A534-F283-4723-85A3-32576B79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62625"/>
            <a:ext cx="32385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052"/>
          </a:solidFill>
          <a:ln xmlns:a="http://schemas.openxmlformats.org/drawingml/2006/main" w="16193">
            <a:solidFill>
              <a:srgbClr val="12305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DEFENSIBLE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MISSION DECISION</a:t>
            </a:r>
          </a:p>
        </p:txBody>
      </p:sp>
    </p:spTree>
    <p:extLst>
      <p:ext uri="{BB962C8B-B14F-4D97-AF65-F5344CB8AC3E}">
        <p14:creationId xmlns:p14="http://schemas.microsoft.com/office/powerpoint/2010/main" val="15300491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figure-3-eyebrow">
            <a:extLst xmlns:a="http://schemas.openxmlformats.org/drawingml/2006/main">
              <a:ext uri="{FF2B5EF4-FFF2-40B4-BE49-F238E27FC236}">
                <a16:creationId xmlns:a16="http://schemas.microsoft.com/office/drawing/2014/main" id="{13B4DCA4-F1B6-4691-A2D2-BD6FD636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68E"/>
                </a:solidFill>
              </a:defRPr>
            </a:pPr>
            <a:r>
              <a:rPr sz="1125" b="1">
                <a:solidFill>
                  <a:srgbClr val="16868E"/>
                </a:solidFill>
              </a:rPr>
              <a:t>FIGURE 3</a:t>
            </a:r>
          </a:p>
        </p:txBody>
      </p:sp>
      <p:sp>
        <p:nvSpPr>
          <p:cNvPr id="2" name="figure-3-title">
            <a:extLst xmlns:a="http://schemas.openxmlformats.org/drawingml/2006/main">
              <a:ext uri="{FF2B5EF4-FFF2-40B4-BE49-F238E27FC236}">
                <a16:creationId xmlns:a16="http://schemas.microsoft.com/office/drawing/2014/main" id="{30532351-7F2D-4121-B527-0D9B99B1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52"/>
                </a:solidFill>
              </a:defRPr>
            </a:pPr>
            <a:r>
              <a:rPr sz="2700" b="1">
                <a:solidFill>
                  <a:srgbClr val="123052"/>
                </a:solidFill>
              </a:rPr>
              <a:t>Object–Assurance–Lifecycle framework</a:t>
            </a:r>
          </a:p>
        </p:txBody>
      </p:sp>
      <p:sp>
        <p:nvSpPr>
          <p:cNvPr id="3" name="figure-3-accent">
            <a:extLst xmlns:a="http://schemas.openxmlformats.org/drawingml/2006/main">
              <a:ext uri="{FF2B5EF4-FFF2-40B4-BE49-F238E27FC236}">
                <a16:creationId xmlns:a16="http://schemas.microsoft.com/office/drawing/2014/main" id="{FA304B0F-0026-47BD-8192-8B02A731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4" name="oal-boundary">
            <a:extLst xmlns:a="http://schemas.openxmlformats.org/drawingml/2006/main">
              <a:ext uri="{FF2B5EF4-FFF2-40B4-BE49-F238E27FC236}">
                <a16:creationId xmlns:a16="http://schemas.microsoft.com/office/drawing/2014/main" id="{3D622074-61FF-4743-94F5-4983C8AB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38250"/>
            <a:ext cx="11144250" cy="5095875"/>
          </a:xfrm>
          <a:prstGeom xmlns:a="http://schemas.openxmlformats.org/drawingml/2006/main" prst="roundRect">
            <a:avLst>
              <a:gd name="adj" fmla="val 448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9D8BCC"/>
            </a:solidFill>
            <a:prstDash val="dash"/>
          </a:ln>
        </p:spPr>
      </p:sp>
      <p:sp>
        <p:nvSpPr>
          <p:cNvPr id="5" name="oal-plane">
            <a:extLst xmlns:a="http://schemas.openxmlformats.org/drawingml/2006/main">
              <a:ext uri="{FF2B5EF4-FFF2-40B4-BE49-F238E27FC236}">
                <a16:creationId xmlns:a16="http://schemas.microsoft.com/office/drawing/2014/main" id="{246BE38E-729B-493C-B7A9-62F43F52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238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16193">
            <a:solidFill>
              <a:srgbClr val="9D8B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E4AA5"/>
                </a:solidFill>
              </a:defRPr>
            </a:pPr>
            <a:r>
              <a:rPr sz="1200" b="1">
                <a:solidFill>
                  <a:srgbClr val="6E4AA5"/>
                </a:solidFill>
              </a:rPr>
              <a:t>ASSURANCE + GOVERNANCE PLANE</a:t>
            </a:r>
          </a:p>
        </p:txBody>
      </p:sp>
      <p:sp>
        <p:nvSpPr>
          <p:cNvPr id="6" name="object-1">
            <a:extLst xmlns:a="http://schemas.openxmlformats.org/drawingml/2006/main">
              <a:ext uri="{FF2B5EF4-FFF2-40B4-BE49-F238E27FC236}">
                <a16:creationId xmlns:a16="http://schemas.microsoft.com/office/drawing/2014/main" id="{1A3C1FB0-A8C5-4B7F-9492-64F049B1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1809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ENTITY</a:t>
            </a:r>
          </a:p>
        </p:txBody>
      </p:sp>
      <p:sp>
        <p:nvSpPr>
          <p:cNvPr id="7" name="object-2">
            <a:extLst xmlns:a="http://schemas.openxmlformats.org/drawingml/2006/main">
              <a:ext uri="{FF2B5EF4-FFF2-40B4-BE49-F238E27FC236}">
                <a16:creationId xmlns:a16="http://schemas.microsoft.com/office/drawing/2014/main" id="{685EF5F0-AE8F-46B6-B919-CEA1F79D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71625"/>
            <a:ext cx="1809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6193">
            <a:solidFill>
              <a:srgbClr val="1686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868E"/>
                </a:solidFill>
              </a:defRPr>
            </a:pPr>
            <a:r>
              <a:rPr sz="1275" b="1">
                <a:solidFill>
                  <a:srgbClr val="16868E"/>
                </a:solidFill>
              </a:rPr>
              <a:t>PLATFORM / DEVICE</a:t>
            </a:r>
          </a:p>
        </p:txBody>
      </p:sp>
      <p:sp>
        <p:nvSpPr>
          <p:cNvPr id="8" name="object-3">
            <a:extLst xmlns:a="http://schemas.openxmlformats.org/drawingml/2006/main">
              <a:ext uri="{FF2B5EF4-FFF2-40B4-BE49-F238E27FC236}">
                <a16:creationId xmlns:a16="http://schemas.microsoft.com/office/drawing/2014/main" id="{59696327-A32C-44CB-84C3-588140E9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1809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6193">
            <a:solidFill>
              <a:srgbClr val="D881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8811B"/>
                </a:solidFill>
              </a:defRPr>
            </a:pPr>
            <a:r>
              <a:rPr sz="1275" b="1">
                <a:solidFill>
                  <a:srgbClr val="D8811B"/>
                </a:solidFill>
              </a:rPr>
              <a:t>LINK / PATH</a:t>
            </a:r>
          </a:p>
        </p:txBody>
      </p:sp>
      <p:sp>
        <p:nvSpPr>
          <p:cNvPr id="9" name="object-4">
            <a:extLst xmlns:a="http://schemas.openxmlformats.org/drawingml/2006/main">
              <a:ext uri="{FF2B5EF4-FFF2-40B4-BE49-F238E27FC236}">
                <a16:creationId xmlns:a16="http://schemas.microsoft.com/office/drawing/2014/main" id="{277D892A-8972-4673-B481-1B9ED4FB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71625"/>
            <a:ext cx="1809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6193">
            <a:solidFill>
              <a:srgbClr val="6E4A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E4AA5"/>
                </a:solidFill>
              </a:defRPr>
            </a:pPr>
            <a:r>
              <a:rPr sz="1275" b="1">
                <a:solidFill>
                  <a:srgbClr val="6E4AA5"/>
                </a:solidFill>
              </a:rPr>
              <a:t>DATA PRODUCT</a:t>
            </a:r>
          </a:p>
        </p:txBody>
      </p:sp>
      <p:sp>
        <p:nvSpPr>
          <p:cNvPr id="10" name="layer-1">
            <a:extLst xmlns:a="http://schemas.openxmlformats.org/drawingml/2006/main">
              <a:ext uri="{FF2B5EF4-FFF2-40B4-BE49-F238E27FC236}">
                <a16:creationId xmlns:a16="http://schemas.microsoft.com/office/drawing/2014/main" id="{D5FD3DB8-189B-4DDA-94BA-7A2EDED7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95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OBSERVATION</a:t>
            </a:r>
          </a:p>
        </p:txBody>
      </p:sp>
      <p:sp>
        <p:nvSpPr>
          <p:cNvPr id="11" name="cell-1-1">
            <a:extLst xmlns:a="http://schemas.openxmlformats.org/drawingml/2006/main">
              <a:ext uri="{FF2B5EF4-FFF2-40B4-BE49-F238E27FC236}">
                <a16:creationId xmlns:a16="http://schemas.microsoft.com/office/drawing/2014/main" id="{E9D8AF6C-1A32-404F-B365-07AF8AE6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769AA"/>
            </a:solidFill>
            <a:prstDash val="solid"/>
          </a:ln>
        </p:spPr>
      </p:sp>
      <p:sp>
        <p:nvSpPr>
          <p:cNvPr id="12" name="cell-1-2">
            <a:extLst xmlns:a="http://schemas.openxmlformats.org/drawingml/2006/main">
              <a:ext uri="{FF2B5EF4-FFF2-40B4-BE49-F238E27FC236}">
                <a16:creationId xmlns:a16="http://schemas.microsoft.com/office/drawing/2014/main" id="{4FE5F0AB-EF74-4580-A35D-29453FAC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812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6868E"/>
            </a:solidFill>
            <a:prstDash val="solid"/>
          </a:ln>
        </p:spPr>
      </p:sp>
      <p:sp>
        <p:nvSpPr>
          <p:cNvPr id="13" name="cell-1-3">
            <a:extLst xmlns:a="http://schemas.openxmlformats.org/drawingml/2006/main">
              <a:ext uri="{FF2B5EF4-FFF2-40B4-BE49-F238E27FC236}">
                <a16:creationId xmlns:a16="http://schemas.microsoft.com/office/drawing/2014/main" id="{32FF8F57-1F6D-45DB-B388-5FAE8C8A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811B"/>
            </a:solidFill>
            <a:prstDash val="solid"/>
          </a:ln>
        </p:spPr>
      </p:sp>
      <p:sp>
        <p:nvSpPr>
          <p:cNvPr id="14" name="cell-1-4">
            <a:extLst xmlns:a="http://schemas.openxmlformats.org/drawingml/2006/main">
              <a:ext uri="{FF2B5EF4-FFF2-40B4-BE49-F238E27FC236}">
                <a16:creationId xmlns:a16="http://schemas.microsoft.com/office/drawing/2014/main" id="{3BD765B8-9979-4478-9482-3832BDAE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812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6E4AA5"/>
            </a:solidFill>
            <a:prstDash val="solid"/>
          </a:ln>
        </p:spPr>
      </p:sp>
      <p:sp>
        <p:nvSpPr>
          <p:cNvPr id="15" name="layer-2">
            <a:extLst xmlns:a="http://schemas.openxmlformats.org/drawingml/2006/main">
              <a:ext uri="{FF2B5EF4-FFF2-40B4-BE49-F238E27FC236}">
                <a16:creationId xmlns:a16="http://schemas.microsoft.com/office/drawing/2014/main" id="{C0C65E4A-3178-4E9D-AF81-2B8234CE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095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6193">
            <a:solidFill>
              <a:srgbClr val="1686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868E"/>
                </a:solidFill>
              </a:defRPr>
            </a:pPr>
            <a:r>
              <a:rPr sz="1275" b="1">
                <a:solidFill>
                  <a:srgbClr val="16868E"/>
                </a:solidFill>
              </a:rPr>
              <a:t>PROVENANCE</a:t>
            </a:r>
          </a:p>
        </p:txBody>
      </p:sp>
      <p:sp>
        <p:nvSpPr>
          <p:cNvPr id="16" name="cell-2-1">
            <a:extLst xmlns:a="http://schemas.openxmlformats.org/drawingml/2006/main">
              <a:ext uri="{FF2B5EF4-FFF2-40B4-BE49-F238E27FC236}">
                <a16:creationId xmlns:a16="http://schemas.microsoft.com/office/drawing/2014/main" id="{31B171B2-6768-4C21-BBEC-E280B45E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956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478">
            <a:solidFill>
              <a:srgbClr val="1769AA"/>
            </a:solidFill>
            <a:prstDash val="solid"/>
          </a:ln>
        </p:spPr>
      </p:sp>
      <p:sp>
        <p:nvSpPr>
          <p:cNvPr id="17" name="cell-2-2">
            <a:extLst xmlns:a="http://schemas.openxmlformats.org/drawingml/2006/main">
              <a:ext uri="{FF2B5EF4-FFF2-40B4-BE49-F238E27FC236}">
                <a16:creationId xmlns:a16="http://schemas.microsoft.com/office/drawing/2014/main" id="{49F78059-A79B-4DAD-A238-8A43EDD1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956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478">
            <a:solidFill>
              <a:srgbClr val="16868E"/>
            </a:solidFill>
            <a:prstDash val="solid"/>
          </a:ln>
        </p:spPr>
      </p:sp>
      <p:sp>
        <p:nvSpPr>
          <p:cNvPr id="18" name="cell-2-3">
            <a:extLst xmlns:a="http://schemas.openxmlformats.org/drawingml/2006/main">
              <a:ext uri="{FF2B5EF4-FFF2-40B4-BE49-F238E27FC236}">
                <a16:creationId xmlns:a16="http://schemas.microsoft.com/office/drawing/2014/main" id="{D42B0613-4352-4888-99BE-A6CA0A96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478">
            <a:solidFill>
              <a:srgbClr val="D8811B"/>
            </a:solidFill>
            <a:prstDash val="solid"/>
          </a:ln>
        </p:spPr>
      </p:sp>
      <p:sp>
        <p:nvSpPr>
          <p:cNvPr id="19" name="cell-2-4">
            <a:extLst xmlns:a="http://schemas.openxmlformats.org/drawingml/2006/main">
              <a:ext uri="{FF2B5EF4-FFF2-40B4-BE49-F238E27FC236}">
                <a16:creationId xmlns:a16="http://schemas.microsoft.com/office/drawing/2014/main" id="{1AAD1DF8-521C-477E-8C75-4AFD474A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478">
            <a:solidFill>
              <a:srgbClr val="6E4AA5"/>
            </a:solidFill>
            <a:prstDash val="solid"/>
          </a:ln>
        </p:spPr>
      </p:sp>
      <p:sp>
        <p:nvSpPr>
          <p:cNvPr id="20" name="layer-3">
            <a:extLst xmlns:a="http://schemas.openxmlformats.org/drawingml/2006/main">
              <a:ext uri="{FF2B5EF4-FFF2-40B4-BE49-F238E27FC236}">
                <a16:creationId xmlns:a16="http://schemas.microsoft.com/office/drawing/2014/main" id="{FC083FDD-4683-47CA-9508-68D0B7FF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095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6193">
            <a:solidFill>
              <a:srgbClr val="D881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8811B"/>
                </a:solidFill>
              </a:defRPr>
            </a:pPr>
            <a:r>
              <a:rPr sz="1275" b="1">
                <a:solidFill>
                  <a:srgbClr val="D8811B"/>
                </a:solidFill>
              </a:rPr>
              <a:t>LEDGER + GOVERNANCE</a:t>
            </a:r>
          </a:p>
        </p:txBody>
      </p:sp>
      <p:sp>
        <p:nvSpPr>
          <p:cNvPr id="21" name="cell-3-1">
            <a:extLst xmlns:a="http://schemas.openxmlformats.org/drawingml/2006/main">
              <a:ext uri="{FF2B5EF4-FFF2-40B4-BE49-F238E27FC236}">
                <a16:creationId xmlns:a16="http://schemas.microsoft.com/office/drawing/2014/main" id="{EC1F25D5-B409-4178-B950-EC910E3D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1000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769AA"/>
            </a:solidFill>
            <a:prstDash val="solid"/>
          </a:ln>
        </p:spPr>
      </p:sp>
      <p:sp>
        <p:nvSpPr>
          <p:cNvPr id="22" name="cell-3-2">
            <a:extLst xmlns:a="http://schemas.openxmlformats.org/drawingml/2006/main">
              <a:ext uri="{FF2B5EF4-FFF2-40B4-BE49-F238E27FC236}">
                <a16:creationId xmlns:a16="http://schemas.microsoft.com/office/drawing/2014/main" id="{541E62A3-AE66-433B-8C40-2EC03610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1000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6868E"/>
            </a:solidFill>
            <a:prstDash val="solid"/>
          </a:ln>
        </p:spPr>
      </p:sp>
      <p:sp>
        <p:nvSpPr>
          <p:cNvPr id="23" name="cell-3-3">
            <a:extLst xmlns:a="http://schemas.openxmlformats.org/drawingml/2006/main">
              <a:ext uri="{FF2B5EF4-FFF2-40B4-BE49-F238E27FC236}">
                <a16:creationId xmlns:a16="http://schemas.microsoft.com/office/drawing/2014/main" id="{6600AA27-ABEF-43AF-8E8E-489ADA89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811B"/>
            </a:solidFill>
            <a:prstDash val="solid"/>
          </a:ln>
        </p:spPr>
      </p:sp>
      <p:sp>
        <p:nvSpPr>
          <p:cNvPr id="24" name="cell-3-4">
            <a:extLst xmlns:a="http://schemas.openxmlformats.org/drawingml/2006/main">
              <a:ext uri="{FF2B5EF4-FFF2-40B4-BE49-F238E27FC236}">
                <a16:creationId xmlns:a16="http://schemas.microsoft.com/office/drawing/2014/main" id="{AB9C3ECD-4ADB-4C73-BD5D-7F2E3C20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1000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6E4AA5"/>
            </a:solidFill>
            <a:prstDash val="solid"/>
          </a:ln>
        </p:spPr>
      </p:sp>
      <p:sp>
        <p:nvSpPr>
          <p:cNvPr id="25" name="layer-4">
            <a:extLst xmlns:a="http://schemas.openxmlformats.org/drawingml/2006/main">
              <a:ext uri="{FF2B5EF4-FFF2-40B4-BE49-F238E27FC236}">
                <a16:creationId xmlns:a16="http://schemas.microsoft.com/office/drawing/2014/main" id="{0FA4B6C2-E892-4810-9491-64084AA2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095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6193">
            <a:solidFill>
              <a:srgbClr val="6E4A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E4AA5"/>
                </a:solidFill>
              </a:defRPr>
            </a:pPr>
            <a:r>
              <a:rPr sz="1275" b="1">
                <a:solidFill>
                  <a:srgbClr val="6E4AA5"/>
                </a:solidFill>
              </a:rPr>
              <a:t>MISSION USE</a:t>
            </a:r>
          </a:p>
        </p:txBody>
      </p:sp>
      <p:sp>
        <p:nvSpPr>
          <p:cNvPr id="26" name="cell-4-1">
            <a:extLst xmlns:a="http://schemas.openxmlformats.org/drawingml/2006/main">
              <a:ext uri="{FF2B5EF4-FFF2-40B4-BE49-F238E27FC236}">
                <a16:creationId xmlns:a16="http://schemas.microsoft.com/office/drawing/2014/main" id="{B0B37670-09C9-48FD-9F7E-FAB2DF3E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2437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478">
            <a:solidFill>
              <a:srgbClr val="1769AA"/>
            </a:solidFill>
            <a:prstDash val="solid"/>
          </a:ln>
        </p:spPr>
      </p:sp>
      <p:sp>
        <p:nvSpPr>
          <p:cNvPr id="27" name="cell-4-2">
            <a:extLst xmlns:a="http://schemas.openxmlformats.org/drawingml/2006/main">
              <a:ext uri="{FF2B5EF4-FFF2-40B4-BE49-F238E27FC236}">
                <a16:creationId xmlns:a16="http://schemas.microsoft.com/office/drawing/2014/main" id="{57F97983-F35E-4B8B-9DCA-42AD43E7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2437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478">
            <a:solidFill>
              <a:srgbClr val="16868E"/>
            </a:solidFill>
            <a:prstDash val="solid"/>
          </a:ln>
        </p:spPr>
      </p:sp>
      <p:sp>
        <p:nvSpPr>
          <p:cNvPr id="28" name="cell-4-3">
            <a:extLst xmlns:a="http://schemas.openxmlformats.org/drawingml/2006/main">
              <a:ext uri="{FF2B5EF4-FFF2-40B4-BE49-F238E27FC236}">
                <a16:creationId xmlns:a16="http://schemas.microsoft.com/office/drawing/2014/main" id="{D60D253B-CFCD-435F-A882-97EA46AD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2437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478">
            <a:solidFill>
              <a:srgbClr val="D8811B"/>
            </a:solidFill>
            <a:prstDash val="solid"/>
          </a:ln>
        </p:spPr>
      </p:sp>
      <p:sp>
        <p:nvSpPr>
          <p:cNvPr id="29" name="cell-4-4">
            <a:extLst xmlns:a="http://schemas.openxmlformats.org/drawingml/2006/main">
              <a:ext uri="{FF2B5EF4-FFF2-40B4-BE49-F238E27FC236}">
                <a16:creationId xmlns:a16="http://schemas.microsoft.com/office/drawing/2014/main" id="{4E7F178A-4CE7-48DD-AF30-36EB0B98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52437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0478">
            <a:solidFill>
              <a:srgbClr val="6E4AA5"/>
            </a:solidFill>
            <a:prstDash val="solid"/>
          </a:ln>
        </p:spPr>
      </p:sp>
      <p:sp>
        <p:nvSpPr>
          <p:cNvPr id="30" name="stage-1">
            <a:extLst xmlns:a="http://schemas.openxmlformats.org/drawingml/2006/main">
              <a:ext uri="{FF2B5EF4-FFF2-40B4-BE49-F238E27FC236}">
                <a16:creationId xmlns:a16="http://schemas.microsoft.com/office/drawing/2014/main" id="{57329055-0DDF-4539-AFB0-DA38659D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1828800" cy="609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052"/>
                </a:solidFill>
              </a:defRPr>
            </a:pPr>
            <a:r>
              <a:rPr sz="1200" b="1">
                <a:solidFill>
                  <a:srgbClr val="123052"/>
                </a:solidFill>
              </a:rPr>
              <a:t>ADMIT</a:t>
            </a:r>
          </a:p>
        </p:txBody>
      </p:sp>
      <p:sp>
        <p:nvSpPr>
          <p:cNvPr id="31" name="stage-2">
            <a:extLst xmlns:a="http://schemas.openxmlformats.org/drawingml/2006/main">
              <a:ext uri="{FF2B5EF4-FFF2-40B4-BE49-F238E27FC236}">
                <a16:creationId xmlns:a16="http://schemas.microsoft.com/office/drawing/2014/main" id="{8119816C-B5B9-4836-8FDE-955BE87A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76875"/>
            <a:ext cx="1828800" cy="609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6F4"/>
          </a:solidFill>
          <a:ln xmlns:a="http://schemas.openxmlformats.org/drawingml/2006/main" w="16193">
            <a:solidFill>
              <a:srgbClr val="1686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052"/>
                </a:solidFill>
              </a:defRPr>
            </a:pPr>
            <a:r>
              <a:rPr sz="1200" b="1">
                <a:solidFill>
                  <a:srgbClr val="123052"/>
                </a:solidFill>
              </a:rPr>
              <a:t>SENSE</a:t>
            </a:r>
          </a:p>
        </p:txBody>
      </p:sp>
      <p:sp>
        <p:nvSpPr>
          <p:cNvPr id="32" name="stage-3">
            <a:extLst xmlns:a="http://schemas.openxmlformats.org/drawingml/2006/main">
              <a:ext uri="{FF2B5EF4-FFF2-40B4-BE49-F238E27FC236}">
                <a16:creationId xmlns:a16="http://schemas.microsoft.com/office/drawing/2014/main" id="{42E5D65C-DE4D-4FD5-A6CB-1C2C1BD0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76875"/>
            <a:ext cx="1828800" cy="609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052"/>
                </a:solidFill>
              </a:defRPr>
            </a:pPr>
            <a:r>
              <a:rPr sz="1200" b="1">
                <a:solidFill>
                  <a:srgbClr val="123052"/>
                </a:solidFill>
              </a:rPr>
              <a:t>RELAY</a:t>
            </a:r>
          </a:p>
        </p:txBody>
      </p:sp>
      <p:sp>
        <p:nvSpPr>
          <p:cNvPr id="33" name="stage-4">
            <a:extLst xmlns:a="http://schemas.openxmlformats.org/drawingml/2006/main">
              <a:ext uri="{FF2B5EF4-FFF2-40B4-BE49-F238E27FC236}">
                <a16:creationId xmlns:a16="http://schemas.microsoft.com/office/drawing/2014/main" id="{100F91D7-AC29-4632-B936-1E7BCE44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76875"/>
            <a:ext cx="1828800" cy="609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6F4"/>
          </a:solidFill>
          <a:ln xmlns:a="http://schemas.openxmlformats.org/drawingml/2006/main" w="16193">
            <a:solidFill>
              <a:srgbClr val="1686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052"/>
                </a:solidFill>
              </a:defRPr>
            </a:pPr>
            <a:r>
              <a:rPr sz="1200" b="1">
                <a:solidFill>
                  <a:srgbClr val="123052"/>
                </a:solidFill>
              </a:rPr>
              <a:t>FUSE + SHARE</a:t>
            </a:r>
          </a:p>
        </p:txBody>
      </p:sp>
      <p:sp>
        <p:nvSpPr>
          <p:cNvPr id="34" name="stage-5">
            <a:extLst xmlns:a="http://schemas.openxmlformats.org/drawingml/2006/main">
              <a:ext uri="{FF2B5EF4-FFF2-40B4-BE49-F238E27FC236}">
                <a16:creationId xmlns:a16="http://schemas.microsoft.com/office/drawing/2014/main" id="{3D4986B2-11E6-4D14-9736-46940098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76875"/>
            <a:ext cx="1828800" cy="609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052"/>
                </a:solidFill>
              </a:defRPr>
            </a:pPr>
            <a:r>
              <a:rPr sz="1200" b="1">
                <a:solidFill>
                  <a:srgbClr val="123052"/>
                </a:solidFill>
              </a:rPr>
              <a:t>DECIDE + ACT</a:t>
            </a:r>
          </a:p>
        </p:txBody>
      </p:sp>
      <p:sp>
        <p:nvSpPr>
          <p:cNvPr id="35" name="stage-6">
            <a:extLst xmlns:a="http://schemas.openxmlformats.org/drawingml/2006/main">
              <a:ext uri="{FF2B5EF4-FFF2-40B4-BE49-F238E27FC236}">
                <a16:creationId xmlns:a16="http://schemas.microsoft.com/office/drawing/2014/main" id="{55FC187F-96C5-4F51-AF21-987ADE28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476875"/>
            <a:ext cx="1828800" cy="609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F6F4"/>
          </a:solidFill>
          <a:ln xmlns:a="http://schemas.openxmlformats.org/drawingml/2006/main" w="16193">
            <a:solidFill>
              <a:srgbClr val="1686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052"/>
                </a:solidFill>
              </a:defRPr>
            </a:pPr>
            <a:r>
              <a:rPr sz="1200" b="1">
                <a:solidFill>
                  <a:srgbClr val="123052"/>
                </a:solidFill>
              </a:rPr>
              <a:t>AUDIT + RECOVER</a:t>
            </a:r>
          </a:p>
        </p:txBody>
      </p:sp>
    </p:spTree>
    <p:extLst>
      <p:ext uri="{BB962C8B-B14F-4D97-AF65-F5344CB8AC3E}">
        <p14:creationId xmlns:p14="http://schemas.microsoft.com/office/powerpoint/2010/main" val="3067218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figure-4-eyebrow">
            <a:extLst xmlns:a="http://schemas.openxmlformats.org/drawingml/2006/main">
              <a:ext uri="{FF2B5EF4-FFF2-40B4-BE49-F238E27FC236}">
                <a16:creationId xmlns:a16="http://schemas.microsoft.com/office/drawing/2014/main" id="{55185260-4789-46E2-A005-7A38082D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68E"/>
                </a:solidFill>
              </a:defRPr>
            </a:pPr>
            <a:r>
              <a:rPr sz="1125" b="1">
                <a:solidFill>
                  <a:srgbClr val="16868E"/>
                </a:solidFill>
              </a:rPr>
              <a:t>FIGURE 4</a:t>
            </a:r>
          </a:p>
        </p:txBody>
      </p:sp>
      <p:sp>
        <p:nvSpPr>
          <p:cNvPr id="2" name="figure-4-title">
            <a:extLst xmlns:a="http://schemas.openxmlformats.org/drawingml/2006/main">
              <a:ext uri="{FF2B5EF4-FFF2-40B4-BE49-F238E27FC236}">
                <a16:creationId xmlns:a16="http://schemas.microsoft.com/office/drawing/2014/main" id="{3B33B7EC-FE74-43AE-A0D1-B50C412C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52"/>
                </a:solidFill>
              </a:defRPr>
            </a:pPr>
            <a:r>
              <a:rPr sz="2700" b="1">
                <a:solidFill>
                  <a:srgbClr val="123052"/>
                </a:solidFill>
              </a:rPr>
              <a:t>Dependency and threat propagation</a:t>
            </a:r>
          </a:p>
        </p:txBody>
      </p:sp>
      <p:sp>
        <p:nvSpPr>
          <p:cNvPr id="3" name="figure-4-accent">
            <a:extLst xmlns:a="http://schemas.openxmlformats.org/drawingml/2006/main">
              <a:ext uri="{FF2B5EF4-FFF2-40B4-BE49-F238E27FC236}">
                <a16:creationId xmlns:a16="http://schemas.microsoft.com/office/drawing/2014/main" id="{81ED288F-0920-4931-93FD-1D0919EC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4" name="dependency-node-1">
            <a:extLst xmlns:a="http://schemas.openxmlformats.org/drawingml/2006/main">
              <a:ext uri="{FF2B5EF4-FFF2-40B4-BE49-F238E27FC236}">
                <a16:creationId xmlns:a16="http://schemas.microsoft.com/office/drawing/2014/main" id="{1B81E934-04A9-4FC9-9997-92FAC77E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762125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9AA"/>
                </a:solidFill>
              </a:defRPr>
            </a:pPr>
            <a:r>
              <a:rPr sz="1425" b="1">
                <a:solidFill>
                  <a:srgbClr val="1769AA"/>
                </a:solidFill>
              </a:rPr>
              <a:t>ENTITY</a:t>
            </a:r>
          </a:p>
        </p:txBody>
      </p:sp>
      <p:sp>
        <p:nvSpPr>
          <p:cNvPr id="5" name="threat-1">
            <a:extLst xmlns:a="http://schemas.openxmlformats.org/drawingml/2006/main">
              <a:ext uri="{FF2B5EF4-FFF2-40B4-BE49-F238E27FC236}">
                <a16:creationId xmlns:a16="http://schemas.microsoft.com/office/drawing/2014/main" id="{BD7A33E3-811E-4C86-9610-8BA9A1B8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95625"/>
            <a:ext cx="1762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DECE7"/>
          </a:solidFill>
          <a:ln xmlns:a="http://schemas.openxmlformats.org/drawingml/2006/main" w="16193">
            <a:solidFill>
              <a:srgbClr val="E76F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Credential</a:t>
            </a:r>
          </a:p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Theft</a:t>
            </a:r>
          </a:p>
        </p:txBody>
      </p:sp>
      <p:cxnSp>
        <p:nvCxnSpPr>
          <p:cNvPr id="32" name=""/>
          <p:cNvCxnSpPr>
            <a:stCxn xmlns:a="http://schemas.openxmlformats.org/drawingml/2006/main" id="4" idx="4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404938" y="260032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9AA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7" name="dependency-node-2">
            <a:extLst xmlns:a="http://schemas.openxmlformats.org/drawingml/2006/main">
              <a:ext uri="{FF2B5EF4-FFF2-40B4-BE49-F238E27FC236}">
                <a16:creationId xmlns:a16="http://schemas.microsoft.com/office/drawing/2014/main" id="{A0337CFA-88ED-4A0F-A5A5-8F8A61A9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76375"/>
            <a:ext cx="1762125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6F4"/>
          </a:solidFill>
          <a:ln xmlns:a="http://schemas.openxmlformats.org/drawingml/2006/main" w="16193">
            <a:solidFill>
              <a:srgbClr val="1686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868E"/>
                </a:solidFill>
              </a:defRPr>
            </a:pPr>
            <a:r>
              <a:rPr sz="1425" b="1">
                <a:solidFill>
                  <a:srgbClr val="16868E"/>
                </a:solidFill>
              </a:rPr>
              <a:t>PLATFORM /</a:t>
            </a:r>
          </a:p>
          <a:p xmlns:a="http://schemas.openxmlformats.org/drawingml/2006/main">
            <a:pPr algn="ctr">
              <a:defRPr sz="1425" b="1">
                <a:solidFill>
                  <a:srgbClr val="16868E"/>
                </a:solidFill>
              </a:defRPr>
            </a:pPr>
            <a:r>
              <a:rPr sz="1425" b="1">
                <a:solidFill>
                  <a:srgbClr val="16868E"/>
                </a:solidFill>
              </a:rPr>
              <a:t>DEVICE</a:t>
            </a:r>
          </a:p>
        </p:txBody>
      </p:sp>
      <p:sp>
        <p:nvSpPr>
          <p:cNvPr id="8" name="threat-2">
            <a:extLst xmlns:a="http://schemas.openxmlformats.org/drawingml/2006/main">
              <a:ext uri="{FF2B5EF4-FFF2-40B4-BE49-F238E27FC236}">
                <a16:creationId xmlns:a16="http://schemas.microsoft.com/office/drawing/2014/main" id="{C6CA657C-BAB1-4518-8C02-9339B279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1762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DECE7"/>
          </a:solidFill>
          <a:ln xmlns:a="http://schemas.openxmlformats.org/drawingml/2006/main" w="16193">
            <a:solidFill>
              <a:srgbClr val="E76F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Endpoint</a:t>
            </a:r>
          </a:p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Capture</a:t>
            </a:r>
          </a:p>
        </p:txBody>
      </p:sp>
      <p:cxnSp>
        <p:nvCxnSpPr>
          <p:cNvPr id="35" name=""/>
          <p:cNvCxnSpPr>
            <a:stCxn xmlns:a="http://schemas.openxmlformats.org/drawingml/2006/main" id="7" idx="4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738563" y="260032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868E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6" name=""/>
          <p:cNvCxnSpPr>
            <a:stCxn xmlns:a="http://schemas.openxmlformats.org/drawingml/2006/main" id="4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286000" y="2038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3052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dependency-node-3">
            <a:extLst xmlns:a="http://schemas.openxmlformats.org/drawingml/2006/main">
              <a:ext uri="{FF2B5EF4-FFF2-40B4-BE49-F238E27FC236}">
                <a16:creationId xmlns:a16="http://schemas.microsoft.com/office/drawing/2014/main" id="{26A8848F-CF5E-4074-910C-7499ED2D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76375"/>
            <a:ext cx="1762125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16193">
            <a:solidFill>
              <a:srgbClr val="D881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8811B"/>
                </a:solidFill>
              </a:defRPr>
            </a:pPr>
            <a:r>
              <a:rPr sz="1425" b="1">
                <a:solidFill>
                  <a:srgbClr val="D8811B"/>
                </a:solidFill>
              </a:rPr>
              <a:t>LINK / PATH</a:t>
            </a:r>
          </a:p>
        </p:txBody>
      </p:sp>
      <p:sp>
        <p:nvSpPr>
          <p:cNvPr id="12" name="threat-3">
            <a:extLst xmlns:a="http://schemas.openxmlformats.org/drawingml/2006/main">
              <a:ext uri="{FF2B5EF4-FFF2-40B4-BE49-F238E27FC236}">
                <a16:creationId xmlns:a16="http://schemas.microsoft.com/office/drawing/2014/main" id="{89E50B0B-0B6E-471F-9697-DCBB62F1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95625"/>
            <a:ext cx="1762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DECE7"/>
          </a:solidFill>
          <a:ln xmlns:a="http://schemas.openxmlformats.org/drawingml/2006/main" w="16193">
            <a:solidFill>
              <a:srgbClr val="E76F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Jamming /</a:t>
            </a:r>
          </a:p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Route Attack</a:t>
            </a:r>
          </a:p>
        </p:txBody>
      </p:sp>
      <p:cxnSp>
        <p:nvCxnSpPr>
          <p:cNvPr id="39" name=""/>
          <p:cNvCxnSpPr>
            <a:stCxn xmlns:a="http://schemas.openxmlformats.org/drawingml/2006/main" id="11" idx="4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72188" y="260032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8811B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40" name=""/>
          <p:cNvCxnSpPr>
            <a:stCxn xmlns:a="http://schemas.openxmlformats.org/drawingml/2006/main" id="7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4619625" y="2038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3052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dependency-node-4">
            <a:extLst xmlns:a="http://schemas.openxmlformats.org/drawingml/2006/main">
              <a:ext uri="{FF2B5EF4-FFF2-40B4-BE49-F238E27FC236}">
                <a16:creationId xmlns:a16="http://schemas.microsoft.com/office/drawing/2014/main" id="{CCD85627-9327-4158-891A-B8B87A8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76375"/>
            <a:ext cx="1762125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CF8"/>
          </a:solidFill>
          <a:ln xmlns:a="http://schemas.openxmlformats.org/drawingml/2006/main" w="16193">
            <a:solidFill>
              <a:srgbClr val="6E4AA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E4AA5"/>
                </a:solidFill>
              </a:defRPr>
            </a:pPr>
            <a:r>
              <a:rPr sz="1425" b="1">
                <a:solidFill>
                  <a:srgbClr val="6E4AA5"/>
                </a:solidFill>
              </a:rPr>
              <a:t>DATA PRODUCT</a:t>
            </a:r>
          </a:p>
        </p:txBody>
      </p:sp>
      <p:sp>
        <p:nvSpPr>
          <p:cNvPr id="16" name="threat-4">
            <a:extLst xmlns:a="http://schemas.openxmlformats.org/drawingml/2006/main">
              <a:ext uri="{FF2B5EF4-FFF2-40B4-BE49-F238E27FC236}">
                <a16:creationId xmlns:a16="http://schemas.microsoft.com/office/drawing/2014/main" id="{D1271122-6D43-4D45-A3CA-7F6A6CC1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95625"/>
            <a:ext cx="1762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DECE7"/>
          </a:solidFill>
          <a:ln xmlns:a="http://schemas.openxmlformats.org/drawingml/2006/main" w="16193">
            <a:solidFill>
              <a:srgbClr val="E76F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Poisoning /</a:t>
            </a:r>
          </a:p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Stale Replay</a:t>
            </a:r>
          </a:p>
        </p:txBody>
      </p:sp>
      <p:cxnSp>
        <p:nvCxnSpPr>
          <p:cNvPr id="43" name=""/>
          <p:cNvCxnSpPr>
            <a:stCxn xmlns:a="http://schemas.openxmlformats.org/drawingml/2006/main" id="15" idx="4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405813" y="260032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E4AA5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44" name=""/>
          <p:cNvCxnSpPr>
            <a:stCxn xmlns:a="http://schemas.openxmlformats.org/drawingml/2006/main" id="11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6953250" y="2038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3052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dependency-node-5">
            <a:extLst xmlns:a="http://schemas.openxmlformats.org/drawingml/2006/main">
              <a:ext uri="{FF2B5EF4-FFF2-40B4-BE49-F238E27FC236}">
                <a16:creationId xmlns:a16="http://schemas.microsoft.com/office/drawing/2014/main" id="{75FCF12C-E23F-473A-A763-957DAD06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476375"/>
            <a:ext cx="1762125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6193">
            <a:solidFill>
              <a:srgbClr val="6879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8798A"/>
                </a:solidFill>
              </a:defRPr>
            </a:pPr>
            <a:r>
              <a:rPr sz="1425" b="1">
                <a:solidFill>
                  <a:srgbClr val="68798A"/>
                </a:solidFill>
              </a:rPr>
              <a:t>MISSION</a:t>
            </a:r>
          </a:p>
          <a:p xmlns:a="http://schemas.openxmlformats.org/drawingml/2006/main">
            <a:pPr algn="ctr">
              <a:defRPr sz="1425" b="1">
                <a:solidFill>
                  <a:srgbClr val="68798A"/>
                </a:solidFill>
              </a:defRPr>
            </a:pPr>
            <a:r>
              <a:rPr sz="1425" b="1">
                <a:solidFill>
                  <a:srgbClr val="68798A"/>
                </a:solidFill>
              </a:rPr>
              <a:t>CONSUMER</a:t>
            </a:r>
          </a:p>
        </p:txBody>
      </p:sp>
      <p:sp>
        <p:nvSpPr>
          <p:cNvPr id="20" name="threat-5">
            <a:extLst xmlns:a="http://schemas.openxmlformats.org/drawingml/2006/main">
              <a:ext uri="{FF2B5EF4-FFF2-40B4-BE49-F238E27FC236}">
                <a16:creationId xmlns:a16="http://schemas.microsoft.com/office/drawing/2014/main" id="{0B7454AE-5678-4B94-9B61-4F77833D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95625"/>
            <a:ext cx="1762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DECE7"/>
          </a:solidFill>
          <a:ln xmlns:a="http://schemas.openxmlformats.org/drawingml/2006/main" w="16193">
            <a:solidFill>
              <a:srgbClr val="E76F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Unsafe</a:t>
            </a:r>
          </a:p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Allocation</a:t>
            </a:r>
          </a:p>
        </p:txBody>
      </p:sp>
      <p:cxnSp>
        <p:nvCxnSpPr>
          <p:cNvPr id="47" name=""/>
          <p:cNvCxnSpPr>
            <a:stCxn xmlns:a="http://schemas.openxmlformats.org/drawingml/2006/main" id="19" idx="4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0739438" y="260032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8798A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48" name=""/>
          <p:cNvCxnSpPr>
            <a:stCxn xmlns:a="http://schemas.openxmlformats.org/drawingml/2006/main" id="15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9286875" y="2038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3052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propagation-band">
            <a:extLst xmlns:a="http://schemas.openxmlformats.org/drawingml/2006/main">
              <a:ext uri="{FF2B5EF4-FFF2-40B4-BE49-F238E27FC236}">
                <a16:creationId xmlns:a16="http://schemas.microsoft.com/office/drawing/2014/main" id="{CFE4BB85-3C8A-4E71-ABEA-AE353DC3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57675"/>
            <a:ext cx="10334625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ECE7"/>
          </a:solidFill>
          <a:ln xmlns:a="http://schemas.openxmlformats.org/drawingml/2006/main" w="19050">
            <a:solidFill>
              <a:srgbClr val="E76F51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76F51"/>
                </a:solidFill>
              </a:defRPr>
            </a:pPr>
            <a:r>
              <a:rPr sz="1275" b="1">
                <a:solidFill>
                  <a:srgbClr val="E76F51"/>
                </a:solidFill>
              </a:rPr>
              <a:t>POTENTIAL MISSION-IMPACT PROPAGATION</a:t>
            </a:r>
          </a:p>
        </p:txBody>
      </p:sp>
      <p:sp>
        <p:nvSpPr>
          <p:cNvPr id="24" name="hypothesis-1">
            <a:extLst xmlns:a="http://schemas.openxmlformats.org/drawingml/2006/main">
              <a:ext uri="{FF2B5EF4-FFF2-40B4-BE49-F238E27FC236}">
                <a16:creationId xmlns:a16="http://schemas.microsoft.com/office/drawing/2014/main" id="{5DBAAAB9-D532-444E-A78B-9DA5BDE6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2857500" cy="8572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CE7"/>
          </a:solidFill>
          <a:ln xmlns:a="http://schemas.openxmlformats.org/drawingml/2006/main" w="16193">
            <a:solidFill>
              <a:srgbClr val="E76F5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76F51"/>
                </a:solidFill>
              </a:defRPr>
            </a:pPr>
            <a:r>
              <a:rPr sz="1575" b="1">
                <a:solidFill>
                  <a:srgbClr val="E76F51"/>
                </a:solidFill>
              </a:rPr>
              <a:t>MALICIOUS</a:t>
            </a:r>
          </a:p>
        </p:txBody>
      </p:sp>
      <p:sp>
        <p:nvSpPr>
          <p:cNvPr id="25" name="hypothesis-2">
            <a:extLst xmlns:a="http://schemas.openxmlformats.org/drawingml/2006/main">
              <a:ext uri="{FF2B5EF4-FFF2-40B4-BE49-F238E27FC236}">
                <a16:creationId xmlns:a16="http://schemas.microsoft.com/office/drawing/2014/main" id="{CBADFED4-3383-44C8-B4FF-C3DA76B7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86375"/>
            <a:ext cx="2857500" cy="8572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6193">
            <a:solidFill>
              <a:srgbClr val="1686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868E"/>
                </a:solidFill>
              </a:defRPr>
            </a:pPr>
            <a:r>
              <a:rPr sz="1575" b="1">
                <a:solidFill>
                  <a:srgbClr val="16868E"/>
                </a:solidFill>
              </a:rPr>
              <a:t>BENIGN-DEGRADED</a:t>
            </a:r>
          </a:p>
        </p:txBody>
      </p:sp>
      <p:sp>
        <p:nvSpPr>
          <p:cNvPr id="26" name="hypothesis-3">
            <a:extLst xmlns:a="http://schemas.openxmlformats.org/drawingml/2006/main">
              <a:ext uri="{FF2B5EF4-FFF2-40B4-BE49-F238E27FC236}">
                <a16:creationId xmlns:a16="http://schemas.microsoft.com/office/drawing/2014/main" id="{FEDE6CD0-A47A-4575-8D10-10489E3D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86375"/>
            <a:ext cx="2857500" cy="8572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6193">
            <a:solidFill>
              <a:srgbClr val="6E4A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E4AA5"/>
                </a:solidFill>
              </a:defRPr>
            </a:pPr>
            <a:r>
              <a:rPr sz="1575" b="1">
                <a:solidFill>
                  <a:srgbClr val="6E4AA5"/>
                </a:solidFill>
              </a:rPr>
              <a:t>UNKNOWN</a:t>
            </a:r>
          </a:p>
        </p:txBody>
      </p:sp>
    </p:spTree>
    <p:extLst>
      <p:ext uri="{BB962C8B-B14F-4D97-AF65-F5344CB8AC3E}">
        <p14:creationId xmlns:p14="http://schemas.microsoft.com/office/powerpoint/2010/main" val="14120361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figure-5-eyebrow">
            <a:extLst xmlns:a="http://schemas.openxmlformats.org/drawingml/2006/main">
              <a:ext uri="{FF2B5EF4-FFF2-40B4-BE49-F238E27FC236}">
                <a16:creationId xmlns:a16="http://schemas.microsoft.com/office/drawing/2014/main" id="{0EBD1208-65E2-45BE-A1C7-C6B1507C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68E"/>
                </a:solidFill>
              </a:defRPr>
            </a:pPr>
            <a:r>
              <a:rPr sz="1125" b="1">
                <a:solidFill>
                  <a:srgbClr val="16868E"/>
                </a:solidFill>
              </a:rPr>
              <a:t>FIGURE 5</a:t>
            </a:r>
          </a:p>
        </p:txBody>
      </p:sp>
      <p:sp>
        <p:nvSpPr>
          <p:cNvPr id="2" name="figure-5-title">
            <a:extLst xmlns:a="http://schemas.openxmlformats.org/drawingml/2006/main">
              <a:ext uri="{FF2B5EF4-FFF2-40B4-BE49-F238E27FC236}">
                <a16:creationId xmlns:a16="http://schemas.microsoft.com/office/drawing/2014/main" id="{AE86BD0D-5B68-4816-A217-7EE1DA94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52"/>
                </a:solidFill>
              </a:defRPr>
            </a:pPr>
            <a:r>
              <a:rPr sz="2700" b="1">
                <a:solidFill>
                  <a:srgbClr val="123052"/>
                </a:solidFill>
              </a:rPr>
              <a:t>Context–temporal–graph reasoning loop</a:t>
            </a:r>
          </a:p>
        </p:txBody>
      </p:sp>
      <p:sp>
        <p:nvSpPr>
          <p:cNvPr id="3" name="figure-5-accent">
            <a:extLst xmlns:a="http://schemas.openxmlformats.org/drawingml/2006/main">
              <a:ext uri="{FF2B5EF4-FFF2-40B4-BE49-F238E27FC236}">
                <a16:creationId xmlns:a16="http://schemas.microsoft.com/office/drawing/2014/main" id="{FDD6B778-C42B-4E44-B9FB-A2FD3119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4" name="ctg-step-1">
            <a:extLst xmlns:a="http://schemas.openxmlformats.org/drawingml/2006/main">
              <a:ext uri="{FF2B5EF4-FFF2-40B4-BE49-F238E27FC236}">
                <a16:creationId xmlns:a16="http://schemas.microsoft.com/office/drawing/2014/main" id="{7C1883D0-BC31-4E06-98F4-680A935C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285875"/>
            <a:ext cx="2095500" cy="8001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01  Evidence</a:t>
            </a:r>
          </a:p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Capture</a:t>
            </a:r>
          </a:p>
        </p:txBody>
      </p:sp>
      <p:sp>
        <p:nvSpPr>
          <p:cNvPr id="5" name="ctg-step-2">
            <a:extLst xmlns:a="http://schemas.openxmlformats.org/drawingml/2006/main">
              <a:ext uri="{FF2B5EF4-FFF2-40B4-BE49-F238E27FC236}">
                <a16:creationId xmlns:a16="http://schemas.microsoft.com/office/drawing/2014/main" id="{BA1656A2-1482-4FD8-A8B7-92994AC1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2095500" cy="8001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02  Reliability</a:t>
            </a:r>
          </a:p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Appraisal</a:t>
            </a:r>
          </a:p>
        </p:txBody>
      </p:sp>
      <p:sp>
        <p:nvSpPr>
          <p:cNvPr id="6" name="ctg-step-3">
            <a:extLst xmlns:a="http://schemas.openxmlformats.org/drawingml/2006/main">
              <a:ext uri="{FF2B5EF4-FFF2-40B4-BE49-F238E27FC236}">
                <a16:creationId xmlns:a16="http://schemas.microsoft.com/office/drawing/2014/main" id="{767550B8-5726-4778-8109-65479D9D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2095500" cy="8001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6193">
            <a:solidFill>
              <a:srgbClr val="1686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03  Object-State</a:t>
            </a:r>
          </a:p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Inference</a:t>
            </a:r>
          </a:p>
        </p:txBody>
      </p:sp>
      <p:sp>
        <p:nvSpPr>
          <p:cNvPr id="7" name="ctg-step-4">
            <a:extLst xmlns:a="http://schemas.openxmlformats.org/drawingml/2006/main">
              <a:ext uri="{FF2B5EF4-FFF2-40B4-BE49-F238E27FC236}">
                <a16:creationId xmlns:a16="http://schemas.microsoft.com/office/drawing/2014/main" id="{8A091DDE-DD25-4F40-B4F9-EA3B506F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24375"/>
            <a:ext cx="2095500" cy="8001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6193">
            <a:solidFill>
              <a:srgbClr val="1686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04  Dependency</a:t>
            </a:r>
          </a:p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Propagation</a:t>
            </a:r>
          </a:p>
        </p:txBody>
      </p:sp>
      <p:sp>
        <p:nvSpPr>
          <p:cNvPr id="8" name="ctg-step-5">
            <a:extLst xmlns:a="http://schemas.openxmlformats.org/drawingml/2006/main">
              <a:ext uri="{FF2B5EF4-FFF2-40B4-BE49-F238E27FC236}">
                <a16:creationId xmlns:a16="http://schemas.microsoft.com/office/drawing/2014/main" id="{6075C5B6-2D9B-487A-BA02-66F99E53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43500"/>
            <a:ext cx="2095500" cy="8001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6193">
            <a:solidFill>
              <a:srgbClr val="1686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05  Uncertainty</a:t>
            </a:r>
          </a:p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Expression</a:t>
            </a:r>
          </a:p>
        </p:txBody>
      </p:sp>
      <p:sp>
        <p:nvSpPr>
          <p:cNvPr id="9" name="ctg-step-6">
            <a:extLst xmlns:a="http://schemas.openxmlformats.org/drawingml/2006/main">
              <a:ext uri="{FF2B5EF4-FFF2-40B4-BE49-F238E27FC236}">
                <a16:creationId xmlns:a16="http://schemas.microsoft.com/office/drawing/2014/main" id="{3B550782-2916-4ADB-832B-8CA3C8A3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24375"/>
            <a:ext cx="2095500" cy="8001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6193">
            <a:solidFill>
              <a:srgbClr val="D881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06  Policy</a:t>
            </a:r>
          </a:p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Action</a:t>
            </a:r>
          </a:p>
        </p:txBody>
      </p:sp>
      <p:sp>
        <p:nvSpPr>
          <p:cNvPr id="10" name="ctg-step-7">
            <a:extLst xmlns:a="http://schemas.openxmlformats.org/drawingml/2006/main">
              <a:ext uri="{FF2B5EF4-FFF2-40B4-BE49-F238E27FC236}">
                <a16:creationId xmlns:a16="http://schemas.microsoft.com/office/drawing/2014/main" id="{552C54FE-B88B-4D53-AFFA-602B7C5D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095500" cy="8001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6193">
            <a:solidFill>
              <a:srgbClr val="D881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07  Accountable</a:t>
            </a:r>
          </a:p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Audit</a:t>
            </a:r>
          </a:p>
        </p:txBody>
      </p:sp>
      <p:sp>
        <p:nvSpPr>
          <p:cNvPr id="11" name="ctg-step-8">
            <a:extLst xmlns:a="http://schemas.openxmlformats.org/drawingml/2006/main">
              <a:ext uri="{FF2B5EF4-FFF2-40B4-BE49-F238E27FC236}">
                <a16:creationId xmlns:a16="http://schemas.microsoft.com/office/drawing/2014/main" id="{3F41E6C3-9EC8-4E49-B247-BBB23B7B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19250"/>
            <a:ext cx="2095500" cy="8001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6193">
            <a:solidFill>
              <a:srgbClr val="6E4AA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08  Operational</a:t>
            </a:r>
          </a:p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Feedback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rot="16200000" flipH="1">
            <a:off x="7334250" y="1495425"/>
            <a:ext cx="333375" cy="7143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1769A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5" idx="2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848725" y="2419350"/>
            <a:ext cx="247650" cy="838200"/>
          </a:xfrm>
          <a:prstGeom xmlns:a="http://schemas.openxmlformats.org/drawingml/2006/main" prst="curvedConnector4">
            <a:avLst/>
          </a:prstGeom>
          <a:ln xmlns:a="http://schemas.openxmlformats.org/drawingml/2006/main" w="28575">
            <a:solidFill>
              <a:srgbClr val="1769A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6" idx="1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8848725" y="3257550"/>
            <a:ext cx="247650" cy="1266825"/>
          </a:xfrm>
          <a:prstGeom xmlns:a="http://schemas.openxmlformats.org/drawingml/2006/main" prst="curvedConnector4">
            <a:avLst/>
          </a:prstGeom>
          <a:ln xmlns:a="http://schemas.openxmlformats.org/drawingml/2006/main" w="28575">
            <a:solidFill>
              <a:srgbClr val="16868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rot="5400000">
            <a:off x="7191375" y="4876800"/>
            <a:ext cx="619125" cy="7143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16868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rot="16200000" flipH="1">
            <a:off x="4381500" y="4876800"/>
            <a:ext cx="619125" cy="7143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16868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0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 flipV="1">
            <a:off x="3095625" y="3257550"/>
            <a:ext cx="247650" cy="1266825"/>
          </a:xfrm>
          <a:prstGeom xmlns:a="http://schemas.openxmlformats.org/drawingml/2006/main" prst="curvedConnector4">
            <a:avLst/>
          </a:prstGeom>
          <a:ln xmlns:a="http://schemas.openxmlformats.org/drawingml/2006/main" w="28575">
            <a:solidFill>
              <a:srgbClr val="D8811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0" idx="0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1990725" y="2019300"/>
            <a:ext cx="247650" cy="838200"/>
          </a:xfrm>
          <a:prstGeom xmlns:a="http://schemas.openxmlformats.org/drawingml/2006/main" prst="curvedConnector4">
            <a:avLst/>
          </a:prstGeom>
          <a:ln xmlns:a="http://schemas.openxmlformats.org/drawingml/2006/main" w="28575">
            <a:solidFill>
              <a:srgbClr val="D8811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1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rot="5400000">
            <a:off x="4524375" y="1495425"/>
            <a:ext cx="333375" cy="7143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6E4AA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ctg-hub">
            <a:extLst xmlns:a="http://schemas.openxmlformats.org/drawingml/2006/main">
              <a:ext uri="{FF2B5EF4-FFF2-40B4-BE49-F238E27FC236}">
                <a16:creationId xmlns:a16="http://schemas.microsoft.com/office/drawing/2014/main" id="{69EF34B9-A8E3-47F6-8430-15C4279B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67000"/>
            <a:ext cx="2571750" cy="1952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CF8"/>
          </a:solidFill>
          <a:ln xmlns:a="http://schemas.openxmlformats.org/drawingml/2006/main" w="16193">
            <a:solidFill>
              <a:srgbClr val="6E4AA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4AA5"/>
                </a:solidFill>
              </a:defRPr>
            </a:pPr>
            <a:r>
              <a:rPr sz="1650" b="1">
                <a:solidFill>
                  <a:srgbClr val="6E4AA5"/>
                </a:solidFill>
              </a:rPr>
              <a:t>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6E4AA5"/>
                </a:solidFill>
              </a:defRPr>
            </a:pPr>
            <a:r>
              <a:rPr sz="1650" b="1">
                <a:solidFill>
                  <a:srgbClr val="6E4AA5"/>
                </a:solidFill>
              </a:rPr>
              <a:t>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6E4AA5"/>
                </a:solidFill>
              </a:defRPr>
            </a:pPr>
            <a:r>
              <a:rPr sz="1650" b="1">
                <a:solidFill>
                  <a:srgbClr val="6E4AA5"/>
                </a:solidFill>
              </a:rPr>
              <a:t>MISSION</a:t>
            </a:r>
          </a:p>
        </p:txBody>
      </p:sp>
    </p:spTree>
    <p:extLst>
      <p:ext uri="{BB962C8B-B14F-4D97-AF65-F5344CB8AC3E}">
        <p14:creationId xmlns:p14="http://schemas.microsoft.com/office/powerpoint/2010/main" val="410607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figure-6-eyebrow">
            <a:extLst xmlns:a="http://schemas.openxmlformats.org/drawingml/2006/main">
              <a:ext uri="{FF2B5EF4-FFF2-40B4-BE49-F238E27FC236}">
                <a16:creationId xmlns:a16="http://schemas.microsoft.com/office/drawing/2014/main" id="{15D73B27-5636-4742-BFD3-B7C45BEA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68E"/>
                </a:solidFill>
              </a:defRPr>
            </a:pPr>
            <a:r>
              <a:rPr sz="1125" b="1">
                <a:solidFill>
                  <a:srgbClr val="16868E"/>
                </a:solidFill>
              </a:rPr>
              <a:t>FIGURE 6</a:t>
            </a:r>
          </a:p>
        </p:txBody>
      </p:sp>
      <p:sp>
        <p:nvSpPr>
          <p:cNvPr id="2" name="figure-6-title">
            <a:extLst xmlns:a="http://schemas.openxmlformats.org/drawingml/2006/main">
              <a:ext uri="{FF2B5EF4-FFF2-40B4-BE49-F238E27FC236}">
                <a16:creationId xmlns:a16="http://schemas.microsoft.com/office/drawing/2014/main" id="{AB768FB5-86ED-4461-81A0-4B7CD9D6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52"/>
                </a:solidFill>
              </a:defRPr>
            </a:pPr>
            <a:r>
              <a:rPr sz="2700" b="1">
                <a:solidFill>
                  <a:srgbClr val="123052"/>
                </a:solidFill>
              </a:rPr>
              <a:t>Blockchain assurance boundary</a:t>
            </a:r>
          </a:p>
        </p:txBody>
      </p:sp>
      <p:sp>
        <p:nvSpPr>
          <p:cNvPr id="3" name="figure-6-accent">
            <a:extLst xmlns:a="http://schemas.openxmlformats.org/drawingml/2006/main">
              <a:ext uri="{FF2B5EF4-FFF2-40B4-BE49-F238E27FC236}">
                <a16:creationId xmlns:a16="http://schemas.microsoft.com/office/drawing/2014/main" id="{6B646C06-25D2-4204-BAF4-0A6F23AD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4" name="ledger-hub">
            <a:extLst xmlns:a="http://schemas.openxmlformats.org/drawingml/2006/main">
              <a:ext uri="{FF2B5EF4-FFF2-40B4-BE49-F238E27FC236}">
                <a16:creationId xmlns:a16="http://schemas.microsoft.com/office/drawing/2014/main" id="{FC05727A-219A-49B7-A922-CEF1E3A3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33625"/>
            <a:ext cx="25717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69AA"/>
                </a:solidFill>
              </a:defRPr>
            </a:pPr>
            <a:r>
              <a:rPr sz="1575" b="1">
                <a:solidFill>
                  <a:srgbClr val="1769AA"/>
                </a:solidFill>
              </a:rPr>
              <a:t>PERMISSIONED</a:t>
            </a:r>
          </a:p>
          <a:p xmlns:a="http://schemas.openxmlformats.org/drawingml/2006/main">
            <a:pPr algn="ctr">
              <a:defRPr sz="1575" b="1">
                <a:solidFill>
                  <a:srgbClr val="1769AA"/>
                </a:solidFill>
              </a:defRPr>
            </a:pPr>
            <a:r>
              <a:rPr sz="1575" b="1">
                <a:solidFill>
                  <a:srgbClr val="1769AA"/>
                </a:solidFill>
              </a:rPr>
              <a:t>LEDGER</a:t>
            </a:r>
          </a:p>
        </p:txBody>
      </p:sp>
      <p:sp>
        <p:nvSpPr>
          <p:cNvPr id="5" name="assurance-hub">
            <a:extLst xmlns:a="http://schemas.openxmlformats.org/drawingml/2006/main">
              <a:ext uri="{FF2B5EF4-FFF2-40B4-BE49-F238E27FC236}">
                <a16:creationId xmlns:a16="http://schemas.microsoft.com/office/drawing/2014/main" id="{04DF0EAE-B3AD-4C20-ACE3-DA0ED0D5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25717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16193">
            <a:solidFill>
              <a:srgbClr val="D881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8811B"/>
                </a:solidFill>
              </a:defRPr>
            </a:pPr>
            <a:r>
              <a:rPr sz="1425" b="1">
                <a:solidFill>
                  <a:srgbClr val="D8811B"/>
                </a:solidFill>
              </a:rPr>
              <a:t>COMPLEMENTARY</a:t>
            </a:r>
          </a:p>
          <a:p xmlns:a="http://schemas.openxmlformats.org/drawingml/2006/main">
            <a:pPr algn="ctr">
              <a:defRPr sz="1425" b="1">
                <a:solidFill>
                  <a:srgbClr val="D8811B"/>
                </a:solidFill>
              </a:defRPr>
            </a:pPr>
            <a:r>
              <a:rPr sz="1425" b="1">
                <a:solidFill>
                  <a:srgbClr val="D8811B"/>
                </a:solidFill>
              </a:rPr>
              <a:t>ASSURANCE</a:t>
            </a:r>
          </a:p>
        </p:txBody>
      </p:sp>
      <p:sp>
        <p:nvSpPr>
          <p:cNvPr id="6" name="mission-assurance">
            <a:extLst xmlns:a="http://schemas.openxmlformats.org/drawingml/2006/main">
              <a:ext uri="{FF2B5EF4-FFF2-40B4-BE49-F238E27FC236}">
                <a16:creationId xmlns:a16="http://schemas.microsoft.com/office/drawing/2014/main" id="{5A66077D-8CF3-40CE-939E-AB2DC8BE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14625"/>
            <a:ext cx="2190750" cy="8572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1ECF8"/>
          </a:solidFill>
          <a:ln xmlns:a="http://schemas.openxmlformats.org/drawingml/2006/main" w="16193">
            <a:solidFill>
              <a:srgbClr val="6E4A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4AA5"/>
                </a:solidFill>
              </a:defRPr>
            </a:pPr>
            <a:r>
              <a:rPr sz="1350" b="1">
                <a:solidFill>
                  <a:srgbClr val="6E4AA5"/>
                </a:solidFill>
              </a:rPr>
              <a:t>INTEGRATED</a:t>
            </a:r>
          </a:p>
          <a:p xmlns:a="http://schemas.openxmlformats.org/drawingml/2006/main">
            <a:pPr algn="ctr">
              <a:defRPr sz="1350" b="1">
                <a:solidFill>
                  <a:srgbClr val="6E4AA5"/>
                </a:solidFill>
              </a:defRPr>
            </a:pPr>
            <a:r>
              <a:rPr sz="1350" b="1">
                <a:solidFill>
                  <a:srgbClr val="6E4AA5"/>
                </a:solidFill>
              </a:rPr>
              <a:t>MISSION ASSURANCE</a:t>
            </a:r>
          </a:p>
        </p:txBody>
      </p:sp>
      <p:cxnSp>
        <p:nvCxnSpPr>
          <p:cNvPr id="41" name=""/>
          <p:cNvCxnSpPr>
            <a:stCxn xmlns:a="http://schemas.openxmlformats.org/drawingml/2006/main" id="4" idx="6"/>
            <a:endCxn xmlns:a="http://schemas.openxmlformats.org/drawingml/2006/main" id="6" idx="3"/>
          </p:cNvCxnSpPr>
          <p:nvPr/>
        </p:nvCxnSpPr>
        <p:spPr>
          <a:xfrm xmlns:a="http://schemas.openxmlformats.org/drawingml/2006/main">
            <a:off x="4714875" y="31432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69AA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" name=""/>
          <p:cNvCxnSpPr>
            <a:stCxn xmlns:a="http://schemas.openxmlformats.org/drawingml/2006/main" id="6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7191375" y="31432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8811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" name="ledger-role-1">
            <a:extLst xmlns:a="http://schemas.openxmlformats.org/drawingml/2006/main">
              <a:ext uri="{FF2B5EF4-FFF2-40B4-BE49-F238E27FC236}">
                <a16:creationId xmlns:a16="http://schemas.microsoft.com/office/drawing/2014/main" id="{9D5C6DE8-10D9-48CD-843F-B468846B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052"/>
                </a:solidFill>
              </a:defRPr>
            </a:pPr>
            <a:r>
              <a:rPr sz="1200" b="1">
                <a:solidFill>
                  <a:srgbClr val="123052"/>
                </a:solidFill>
              </a:rPr>
              <a:t>Membership + Authority</a:t>
            </a:r>
          </a:p>
        </p:txBody>
      </p:sp>
      <p:sp>
        <p:nvSpPr>
          <p:cNvPr id="10" name="ledger-role-2">
            <a:extLst xmlns:a="http://schemas.openxmlformats.org/drawingml/2006/main">
              <a:ext uri="{FF2B5EF4-FFF2-40B4-BE49-F238E27FC236}">
                <a16:creationId xmlns:a16="http://schemas.microsoft.com/office/drawing/2014/main" id="{F4326EB8-C18E-4B15-9F9E-20299163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052"/>
                </a:solidFill>
              </a:defRPr>
            </a:pPr>
            <a:r>
              <a:rPr sz="1200" b="1">
                <a:solidFill>
                  <a:srgbClr val="123052"/>
                </a:solidFill>
              </a:rPr>
              <a:t>Provenance Commitments</a:t>
            </a:r>
          </a:p>
        </p:txBody>
      </p:sp>
      <p:sp>
        <p:nvSpPr>
          <p:cNvPr id="11" name="ledger-role-3">
            <a:extLst xmlns:a="http://schemas.openxmlformats.org/drawingml/2006/main">
              <a:ext uri="{FF2B5EF4-FFF2-40B4-BE49-F238E27FC236}">
                <a16:creationId xmlns:a16="http://schemas.microsoft.com/office/drawing/2014/main" id="{54075C7E-A889-4E92-80CC-36C0EDE7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85875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686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052"/>
                </a:solidFill>
              </a:defRPr>
            </a:pPr>
            <a:r>
              <a:rPr sz="1200" b="1">
                <a:solidFill>
                  <a:srgbClr val="123052"/>
                </a:solidFill>
              </a:rPr>
              <a:t>Version Coordination</a:t>
            </a:r>
          </a:p>
        </p:txBody>
      </p:sp>
      <p:sp>
        <p:nvSpPr>
          <p:cNvPr id="12" name="ledger-role-4">
            <a:extLst xmlns:a="http://schemas.openxmlformats.org/drawingml/2006/main">
              <a:ext uri="{FF2B5EF4-FFF2-40B4-BE49-F238E27FC236}">
                <a16:creationId xmlns:a16="http://schemas.microsoft.com/office/drawing/2014/main" id="{EA7FADC6-1D25-427E-92B8-1EEA31DA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9100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686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052"/>
                </a:solidFill>
              </a:defRPr>
            </a:pPr>
            <a:r>
              <a:rPr sz="1200" b="1">
                <a:solidFill>
                  <a:srgbClr val="123052"/>
                </a:solidFill>
              </a:rPr>
              <a:t>Audit + Reconciliation</a:t>
            </a:r>
          </a:p>
        </p:txBody>
      </p:sp>
      <p:sp>
        <p:nvSpPr>
          <p:cNvPr id="13" name="assurance-role-1">
            <a:extLst xmlns:a="http://schemas.openxmlformats.org/drawingml/2006/main">
              <a:ext uri="{FF2B5EF4-FFF2-40B4-BE49-F238E27FC236}">
                <a16:creationId xmlns:a16="http://schemas.microsoft.com/office/drawing/2014/main" id="{ECD3ACB0-BB87-484A-8D1A-1131CD10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81125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6193">
            <a:solidFill>
              <a:srgbClr val="D881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052"/>
                </a:solidFill>
              </a:defRPr>
            </a:pPr>
            <a:r>
              <a:rPr sz="1200" b="1">
                <a:solidFill>
                  <a:srgbClr val="123052"/>
                </a:solidFill>
              </a:rPr>
              <a:t>Physical Validation</a:t>
            </a:r>
          </a:p>
        </p:txBody>
      </p:sp>
      <p:sp>
        <p:nvSpPr>
          <p:cNvPr id="14" name="assurance-role-2">
            <a:extLst xmlns:a="http://schemas.openxmlformats.org/drawingml/2006/main">
              <a:ext uri="{FF2B5EF4-FFF2-40B4-BE49-F238E27FC236}">
                <a16:creationId xmlns:a16="http://schemas.microsoft.com/office/drawing/2014/main" id="{BCA009A3-6226-4B95-9B15-12ED77AF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6193">
            <a:solidFill>
              <a:srgbClr val="D881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052"/>
                </a:solidFill>
              </a:defRPr>
            </a:pPr>
            <a:r>
              <a:rPr sz="1200" b="1">
                <a:solidFill>
                  <a:srgbClr val="123052"/>
                </a:solidFill>
              </a:rPr>
              <a:t>Endpoint Protection</a:t>
            </a:r>
          </a:p>
        </p:txBody>
      </p:sp>
      <p:sp>
        <p:nvSpPr>
          <p:cNvPr id="15" name="assurance-role-3">
            <a:extLst xmlns:a="http://schemas.openxmlformats.org/drawingml/2006/main">
              <a:ext uri="{FF2B5EF4-FFF2-40B4-BE49-F238E27FC236}">
                <a16:creationId xmlns:a16="http://schemas.microsoft.com/office/drawing/2014/main" id="{A2D98000-7ADB-45FE-B687-68644613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85875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6193">
            <a:solidFill>
              <a:srgbClr val="6E4A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052"/>
                </a:solidFill>
              </a:defRPr>
            </a:pPr>
            <a:r>
              <a:rPr sz="1200" b="1">
                <a:solidFill>
                  <a:srgbClr val="123052"/>
                </a:solidFill>
              </a:rPr>
              <a:t>Real-Time Safety</a:t>
            </a:r>
          </a:p>
        </p:txBody>
      </p:sp>
      <p:sp>
        <p:nvSpPr>
          <p:cNvPr id="16" name="assurance-role-4">
            <a:extLst xmlns:a="http://schemas.openxmlformats.org/drawingml/2006/main">
              <a:ext uri="{FF2B5EF4-FFF2-40B4-BE49-F238E27FC236}">
                <a16:creationId xmlns:a16="http://schemas.microsoft.com/office/drawing/2014/main" id="{7D58BCC6-6594-46D6-A8CB-3B41BFE9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6193">
            <a:solidFill>
              <a:srgbClr val="6E4A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052"/>
                </a:solidFill>
              </a:defRPr>
            </a:pPr>
            <a:r>
              <a:rPr sz="1200" b="1">
                <a:solidFill>
                  <a:srgbClr val="123052"/>
                </a:solidFill>
              </a:rPr>
              <a:t>Privacy + Governance</a:t>
            </a:r>
          </a:p>
        </p:txBody>
      </p:sp>
      <p:cxnSp>
        <p:nvCxnSpPr>
          <p:cNvPr id="51" name=""/>
          <p:cNvCxnSpPr>
            <a:stCxn xmlns:a="http://schemas.openxmlformats.org/drawingml/2006/main" id="9" idx="3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2762250" y="1704975"/>
            <a:ext cx="666750" cy="6286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1769AA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" name=""/>
          <p:cNvCxnSpPr>
            <a:stCxn xmlns:a="http://schemas.openxmlformats.org/drawingml/2006/main" id="10" idx="3"/>
            <a:endCxn xmlns:a="http://schemas.openxmlformats.org/drawingml/2006/main" id="4" idx="4"/>
          </p:cNvCxnSpPr>
          <p:nvPr/>
        </p:nvCxnSpPr>
        <p:spPr>
          <a:xfrm xmlns:a="http://schemas.openxmlformats.org/drawingml/2006/main" flipV="1">
            <a:off x="2762250" y="3952875"/>
            <a:ext cx="666750" cy="37147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1769AA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" name=""/>
          <p:cNvCxnSpPr>
            <a:stCxn xmlns:a="http://schemas.openxmlformats.org/drawingml/2006/main" id="11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3429000" y="1933575"/>
            <a:ext cx="476250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1769AA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" name=""/>
          <p:cNvCxnSpPr>
            <a:stCxn xmlns:a="http://schemas.openxmlformats.org/drawingml/2006/main" id="12" idx="0"/>
            <a:endCxn xmlns:a="http://schemas.openxmlformats.org/drawingml/2006/main" id="4" idx="4"/>
          </p:cNvCxnSpPr>
          <p:nvPr/>
        </p:nvCxnSpPr>
        <p:spPr>
          <a:xfrm xmlns:a="http://schemas.openxmlformats.org/drawingml/2006/main" flipH="1" flipV="1">
            <a:off x="3429000" y="3952875"/>
            <a:ext cx="476250" cy="238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1769AA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5" name=""/>
          <p:cNvCxnSpPr>
            <a:stCxn xmlns:a="http://schemas.openxmlformats.org/drawingml/2006/main" id="13" idx="1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8763000" y="1704975"/>
            <a:ext cx="666750" cy="62865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D8811B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6" name=""/>
          <p:cNvCxnSpPr>
            <a:stCxn xmlns:a="http://schemas.openxmlformats.org/drawingml/2006/main" id="14" idx="1"/>
            <a:endCxn xmlns:a="http://schemas.openxmlformats.org/drawingml/2006/main" id="5" idx="4"/>
          </p:cNvCxnSpPr>
          <p:nvPr/>
        </p:nvCxnSpPr>
        <p:spPr>
          <a:xfrm xmlns:a="http://schemas.openxmlformats.org/drawingml/2006/main" flipH="1" flipV="1">
            <a:off x="8763000" y="3952875"/>
            <a:ext cx="666750" cy="37147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D8811B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7" name=""/>
          <p:cNvCxnSpPr>
            <a:stCxn xmlns:a="http://schemas.openxmlformats.org/drawingml/2006/main" id="15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8286750" y="1933575"/>
            <a:ext cx="476250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D8811B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8" name=""/>
          <p:cNvCxnSpPr>
            <a:stCxn xmlns:a="http://schemas.openxmlformats.org/drawingml/2006/main" id="16" idx="0"/>
            <a:endCxn xmlns:a="http://schemas.openxmlformats.org/drawingml/2006/main" id="5" idx="4"/>
          </p:cNvCxnSpPr>
          <p:nvPr/>
        </p:nvCxnSpPr>
        <p:spPr>
          <a:xfrm xmlns:a="http://schemas.openxmlformats.org/drawingml/2006/main" flipV="1">
            <a:off x="8286750" y="3952875"/>
            <a:ext cx="476250" cy="238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D8811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5" name="decision-divider">
            <a:extLst xmlns:a="http://schemas.openxmlformats.org/drawingml/2006/main">
              <a:ext uri="{FF2B5EF4-FFF2-40B4-BE49-F238E27FC236}">
                <a16:creationId xmlns:a16="http://schemas.microsoft.com/office/drawing/2014/main" id="{6ED4709E-355E-4605-84EE-8F279DB6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solidFill>
              <a:srgbClr val="C9D5E2"/>
            </a:solidFill>
            <a:prstDash val="solid"/>
          </a:ln>
        </p:spPr>
      </p:sp>
      <p:sp>
        <p:nvSpPr>
          <p:cNvPr id="26" name="governance-structure">
            <a:extLst xmlns:a="http://schemas.openxmlformats.org/drawingml/2006/main">
              <a:ext uri="{FF2B5EF4-FFF2-40B4-BE49-F238E27FC236}">
                <a16:creationId xmlns:a16="http://schemas.microsoft.com/office/drawing/2014/main" id="{27AA12A9-CB3C-4AA1-836F-484E6AFB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762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16193">
            <a:solidFill>
              <a:srgbClr val="6879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GOVERNANCE</a:t>
            </a:r>
          </a:p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STRUCTURE</a:t>
            </a:r>
          </a:p>
        </p:txBody>
      </p:sp>
      <p:sp>
        <p:nvSpPr>
          <p:cNvPr id="27" name="independent-parties">
            <a:extLst xmlns:a="http://schemas.openxmlformats.org/drawingml/2006/main">
              <a:ext uri="{FF2B5EF4-FFF2-40B4-BE49-F238E27FC236}">
                <a16:creationId xmlns:a16="http://schemas.microsoft.com/office/drawing/2014/main" id="{BF0CE123-DDF0-47AF-A16E-BA4FF92D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340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6193">
            <a:solidFill>
              <a:srgbClr val="1686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868E"/>
                </a:solidFill>
              </a:defRPr>
            </a:pPr>
            <a:r>
              <a:rPr sz="1275" b="1">
                <a:solidFill>
                  <a:srgbClr val="16868E"/>
                </a:solidFill>
              </a:rPr>
              <a:t>INDEPENDENT PARTIES</a:t>
            </a:r>
          </a:p>
        </p:txBody>
      </p:sp>
      <p:sp>
        <p:nvSpPr>
          <p:cNvPr id="28" name="single-authority">
            <a:extLst xmlns:a="http://schemas.openxmlformats.org/drawingml/2006/main">
              <a:ext uri="{FF2B5EF4-FFF2-40B4-BE49-F238E27FC236}">
                <a16:creationId xmlns:a16="http://schemas.microsoft.com/office/drawing/2014/main" id="{140D9F2F-1DD9-46CA-8FAE-76845555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953125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1ECF8"/>
          </a:solidFill>
          <a:ln xmlns:a="http://schemas.openxmlformats.org/drawingml/2006/main" w="16193">
            <a:solidFill>
              <a:srgbClr val="6E4A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E4AA5"/>
                </a:solidFill>
              </a:defRPr>
            </a:pPr>
            <a:r>
              <a:rPr sz="1125" b="1">
                <a:solidFill>
                  <a:srgbClr val="6E4AA5"/>
                </a:solidFill>
              </a:rPr>
              <a:t>SINGLE ACCOUNTABLE AUTHORITY</a:t>
            </a:r>
          </a:p>
        </p:txBody>
      </p:sp>
      <p:sp>
        <p:nvSpPr>
          <p:cNvPr id="29" name="ledger-choice">
            <a:extLst xmlns:a="http://schemas.openxmlformats.org/drawingml/2006/main">
              <a:ext uri="{FF2B5EF4-FFF2-40B4-BE49-F238E27FC236}">
                <a16:creationId xmlns:a16="http://schemas.microsoft.com/office/drawing/2014/main" id="{6C6EECF3-22FA-4E28-9021-CF2F7347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34000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6193">
            <a:solidFill>
              <a:srgbClr val="1769A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PERMISSIONED LEDGER</a:t>
            </a:r>
          </a:p>
        </p:txBody>
      </p:sp>
      <p:sp>
        <p:nvSpPr>
          <p:cNvPr id="30" name="database-choice">
            <a:extLst xmlns:a="http://schemas.openxmlformats.org/drawingml/2006/main">
              <a:ext uri="{FF2B5EF4-FFF2-40B4-BE49-F238E27FC236}">
                <a16:creationId xmlns:a16="http://schemas.microsoft.com/office/drawing/2014/main" id="{3D042B40-A92B-40E7-913D-74BF2E17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953125"/>
            <a:ext cx="2381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16193">
            <a:solidFill>
              <a:srgbClr val="6879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52"/>
                </a:solidFill>
              </a:defRPr>
            </a:pPr>
            <a:r>
              <a:rPr sz="1275" b="1">
                <a:solidFill>
                  <a:srgbClr val="123052"/>
                </a:solidFill>
              </a:rPr>
              <a:t>AUTHENTICATED DATABASE</a:t>
            </a:r>
          </a:p>
        </p:txBody>
      </p:sp>
      <p:cxnSp>
        <p:nvCxnSpPr>
          <p:cNvPr id="65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2428875" y="5581650"/>
            <a:ext cx="857250" cy="3000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6868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2428875" y="5881688"/>
            <a:ext cx="857250" cy="3190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6E4AA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667375" y="558165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868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28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667375" y="6200775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E4AA5"/>
            </a:solidFill>
            <a:prstDash val="solid"/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5270456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figure-7-eyebrow">
            <a:extLst xmlns:a="http://schemas.openxmlformats.org/drawingml/2006/main">
              <a:ext uri="{FF2B5EF4-FFF2-40B4-BE49-F238E27FC236}">
                <a16:creationId xmlns:a16="http://schemas.microsoft.com/office/drawing/2014/main" id="{FC8FCB54-AE06-4BBF-9DD6-20C434C1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68E"/>
                </a:solidFill>
              </a:defRPr>
            </a:pPr>
            <a:r>
              <a:rPr sz="1125" b="1">
                <a:solidFill>
                  <a:srgbClr val="16868E"/>
                </a:solidFill>
              </a:rPr>
              <a:t>FIGURE 7</a:t>
            </a:r>
          </a:p>
        </p:txBody>
      </p:sp>
      <p:sp>
        <p:nvSpPr>
          <p:cNvPr id="2" name="figure-7-title">
            <a:extLst xmlns:a="http://schemas.openxmlformats.org/drawingml/2006/main">
              <a:ext uri="{FF2B5EF4-FFF2-40B4-BE49-F238E27FC236}">
                <a16:creationId xmlns:a16="http://schemas.microsoft.com/office/drawing/2014/main" id="{570B5BDB-24B1-4BC8-A6EF-246F2D24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52"/>
                </a:solidFill>
              </a:defRPr>
            </a:pPr>
            <a:r>
              <a:rPr sz="2700" b="1">
                <a:solidFill>
                  <a:srgbClr val="123052"/>
                </a:solidFill>
              </a:rPr>
              <a:t>Evidence-maturity ladder</a:t>
            </a:r>
          </a:p>
        </p:txBody>
      </p:sp>
      <p:sp>
        <p:nvSpPr>
          <p:cNvPr id="3" name="figure-7-accent">
            <a:extLst xmlns:a="http://schemas.openxmlformats.org/drawingml/2006/main">
              <a:ext uri="{FF2B5EF4-FFF2-40B4-BE49-F238E27FC236}">
                <a16:creationId xmlns:a16="http://schemas.microsoft.com/office/drawing/2014/main" id="{FEF270A5-3779-45E0-8C62-E3759781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4" name="evidence-rise">
            <a:extLst xmlns:a="http://schemas.openxmlformats.org/drawingml/2006/main">
              <a:ext uri="{FF2B5EF4-FFF2-40B4-BE49-F238E27FC236}">
                <a16:creationId xmlns:a16="http://schemas.microsoft.com/office/drawing/2014/main" id="{879B8CA4-E734-4ABC-9A00-2E41E0EB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1143000" y="1285875"/>
            <a:ext cx="9858375" cy="609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F6F4"/>
          </a:solidFill>
          <a:ln xmlns:a="http://schemas.openxmlformats.org/drawingml/2006/main" w="14288">
            <a:solidFill>
              <a:srgbClr val="16868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868E"/>
                </a:solidFill>
              </a:defRPr>
            </a:pPr>
            <a:r>
              <a:rPr sz="1425" b="1">
                <a:solidFill>
                  <a:srgbClr val="16868E"/>
                </a:solidFill>
              </a:rPr>
              <a:t>INCREASING ECOLOGICAL EVIDENCE</a:t>
            </a:r>
          </a:p>
        </p:txBody>
      </p:sp>
      <p:sp>
        <p:nvSpPr>
          <p:cNvPr id="5" name="maturity-1">
            <a:extLst xmlns:a="http://schemas.openxmlformats.org/drawingml/2006/main">
              <a:ext uri="{FF2B5EF4-FFF2-40B4-BE49-F238E27FC236}">
                <a16:creationId xmlns:a16="http://schemas.microsoft.com/office/drawing/2014/main" id="{43EC550D-B26B-403C-802C-B7FB6C3E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17335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9050">
            <a:solidFill>
              <a:srgbClr val="1769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maturity-label-1">
            <a:extLst xmlns:a="http://schemas.openxmlformats.org/drawingml/2006/main">
              <a:ext uri="{FF2B5EF4-FFF2-40B4-BE49-F238E27FC236}">
                <a16:creationId xmlns:a16="http://schemas.microsoft.com/office/drawing/2014/main" id="{5BF96B9D-4B67-4273-B81F-A1ECCC18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482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CONCEPT</a:t>
            </a:r>
          </a:p>
          <a:p xmlns:a="http://schemas.openxmlformats.org/drawingml/2006/main">
            <a:pPr algn="ctr"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argument</a:t>
            </a:r>
          </a:p>
        </p:txBody>
      </p:sp>
      <p:sp>
        <p:nvSpPr>
          <p:cNvPr id="7" name="maturity-2">
            <a:extLst xmlns:a="http://schemas.openxmlformats.org/drawingml/2006/main">
              <a:ext uri="{FF2B5EF4-FFF2-40B4-BE49-F238E27FC236}">
                <a16:creationId xmlns:a16="http://schemas.microsoft.com/office/drawing/2014/main" id="{6BB1E9B4-1CEB-4FA9-813B-F77A4536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72000"/>
            <a:ext cx="17335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9050">
            <a:solidFill>
              <a:srgbClr val="2479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maturity-label-2">
            <a:extLst xmlns:a="http://schemas.openxmlformats.org/drawingml/2006/main">
              <a:ext uri="{FF2B5EF4-FFF2-40B4-BE49-F238E27FC236}">
                <a16:creationId xmlns:a16="http://schemas.microsoft.com/office/drawing/2014/main" id="{DBF54C2C-651B-4237-BD4A-94E232D8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72440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9A9"/>
                </a:solidFill>
              </a:defRPr>
            </a:pPr>
            <a:r>
              <a:rPr sz="1350" b="1">
                <a:solidFill>
                  <a:srgbClr val="2479A9"/>
                </a:solidFill>
              </a:rPr>
              <a:t>ANALYSIS</a:t>
            </a:r>
          </a:p>
          <a:p xmlns:a="http://schemas.openxmlformats.org/drawingml/2006/main">
            <a:pPr algn="ctr">
              <a:defRPr sz="1350" b="1">
                <a:solidFill>
                  <a:srgbClr val="2479A9"/>
                </a:solidFill>
              </a:defRPr>
            </a:pPr>
            <a:r>
              <a:rPr sz="1350" b="1">
                <a:solidFill>
                  <a:srgbClr val="2479A9"/>
                </a:solidFill>
              </a:rPr>
              <a:t>formal model</a:t>
            </a:r>
          </a:p>
        </p:txBody>
      </p:sp>
      <p:sp>
        <p:nvSpPr>
          <p:cNvPr id="9" name="maturity-3">
            <a:extLst xmlns:a="http://schemas.openxmlformats.org/drawingml/2006/main">
              <a:ext uri="{FF2B5EF4-FFF2-40B4-BE49-F238E27FC236}">
                <a16:creationId xmlns:a16="http://schemas.microsoft.com/office/drawing/2014/main" id="{FECF5070-DEB1-4FA5-B5A0-8EAE0EE7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48125"/>
            <a:ext cx="1733550" cy="2143125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9050">
            <a:solidFill>
              <a:srgbClr val="39AF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maturity-label-3">
            <a:extLst xmlns:a="http://schemas.openxmlformats.org/drawingml/2006/main">
              <a:ext uri="{FF2B5EF4-FFF2-40B4-BE49-F238E27FC236}">
                <a16:creationId xmlns:a16="http://schemas.microsoft.com/office/drawing/2014/main" id="{DBF092EA-C213-4DA8-A17C-18EA4784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0052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9AFC2"/>
                </a:solidFill>
              </a:defRPr>
            </a:pPr>
            <a:r>
              <a:rPr sz="1350" b="1">
                <a:solidFill>
                  <a:srgbClr val="39AFC2"/>
                </a:solidFill>
              </a:rPr>
              <a:t>SIMULATION</a:t>
            </a:r>
          </a:p>
          <a:p xmlns:a="http://schemas.openxmlformats.org/drawingml/2006/main">
            <a:pPr algn="ctr">
              <a:defRPr sz="1350" b="1">
                <a:solidFill>
                  <a:srgbClr val="39AFC2"/>
                </a:solidFill>
              </a:defRPr>
            </a:pPr>
            <a:r>
              <a:rPr sz="1350" b="1">
                <a:solidFill>
                  <a:srgbClr val="39AFC2"/>
                </a:solidFill>
              </a:rPr>
              <a:t>controlled study</a:t>
            </a:r>
          </a:p>
        </p:txBody>
      </p:sp>
      <p:sp>
        <p:nvSpPr>
          <p:cNvPr id="11" name="maturity-4">
            <a:extLst xmlns:a="http://schemas.openxmlformats.org/drawingml/2006/main">
              <a:ext uri="{FF2B5EF4-FFF2-40B4-BE49-F238E27FC236}">
                <a16:creationId xmlns:a16="http://schemas.microsoft.com/office/drawing/2014/main" id="{71C93AC6-3358-423F-A98A-B1589EE3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1733550" cy="266700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9050">
            <a:solidFill>
              <a:srgbClr val="1686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maturity-label-4">
            <a:extLst xmlns:a="http://schemas.openxmlformats.org/drawingml/2006/main">
              <a:ext uri="{FF2B5EF4-FFF2-40B4-BE49-F238E27FC236}">
                <a16:creationId xmlns:a16="http://schemas.microsoft.com/office/drawing/2014/main" id="{5BEAB869-BA32-4FFF-8F40-E11CB702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7665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868E"/>
                </a:solidFill>
              </a:defRPr>
            </a:pPr>
            <a:r>
              <a:rPr sz="1350" b="1">
                <a:solidFill>
                  <a:srgbClr val="16868E"/>
                </a:solidFill>
              </a:rPr>
              <a:t>PROTOTYPE</a:t>
            </a:r>
          </a:p>
          <a:p xmlns:a="http://schemas.openxmlformats.org/drawingml/2006/main">
            <a:pPr algn="ctr">
              <a:defRPr sz="1350" b="1">
                <a:solidFill>
                  <a:srgbClr val="16868E"/>
                </a:solidFill>
              </a:defRPr>
            </a:pPr>
            <a:r>
              <a:rPr sz="1350" b="1">
                <a:solidFill>
                  <a:srgbClr val="16868E"/>
                </a:solidFill>
              </a:rPr>
              <a:t>integrated testbed</a:t>
            </a:r>
          </a:p>
        </p:txBody>
      </p:sp>
      <p:sp>
        <p:nvSpPr>
          <p:cNvPr id="13" name="maturity-5">
            <a:extLst xmlns:a="http://schemas.openxmlformats.org/drawingml/2006/main">
              <a:ext uri="{FF2B5EF4-FFF2-40B4-BE49-F238E27FC236}">
                <a16:creationId xmlns:a16="http://schemas.microsoft.com/office/drawing/2014/main" id="{50D47595-B287-4EC1-92B3-3F59A085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00375"/>
            <a:ext cx="1733550" cy="3190875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E8F6F4"/>
          </a:solidFill>
          <a:ln xmlns:a="http://schemas.openxmlformats.org/drawingml/2006/main" w="19050">
            <a:solidFill>
              <a:srgbClr val="4F8A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maturity-label-5">
            <a:extLst xmlns:a="http://schemas.openxmlformats.org/drawingml/2006/main">
              <a:ext uri="{FF2B5EF4-FFF2-40B4-BE49-F238E27FC236}">
                <a16:creationId xmlns:a16="http://schemas.microsoft.com/office/drawing/2014/main" id="{363828C1-D44B-43FB-9828-BCE414FD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527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F8A67"/>
                </a:solidFill>
              </a:defRPr>
            </a:pPr>
            <a:r>
              <a:rPr sz="1350" b="1">
                <a:solidFill>
                  <a:srgbClr val="4F8A67"/>
                </a:solidFill>
              </a:rPr>
              <a:t>FIELD TRIAL</a:t>
            </a:r>
          </a:p>
          <a:p xmlns:a="http://schemas.openxmlformats.org/drawingml/2006/main">
            <a:pPr algn="ctr">
              <a:defRPr sz="1350" b="1">
                <a:solidFill>
                  <a:srgbClr val="4F8A67"/>
                </a:solidFill>
              </a:defRPr>
            </a:pPr>
            <a:r>
              <a:rPr sz="1350" b="1">
                <a:solidFill>
                  <a:srgbClr val="4F8A67"/>
                </a:solidFill>
              </a:rPr>
              <a:t>operational setting</a:t>
            </a:r>
          </a:p>
        </p:txBody>
      </p:sp>
      <p:sp>
        <p:nvSpPr>
          <p:cNvPr id="15" name="maturity-6">
            <a:extLst xmlns:a="http://schemas.openxmlformats.org/drawingml/2006/main">
              <a:ext uri="{FF2B5EF4-FFF2-40B4-BE49-F238E27FC236}">
                <a16:creationId xmlns:a16="http://schemas.microsoft.com/office/drawing/2014/main" id="{B2C3C341-F525-4BC9-9DED-51258BFA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476500"/>
            <a:ext cx="1733550" cy="37147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9050">
            <a:solidFill>
              <a:srgbClr val="D881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maturity-label-6">
            <a:extLst xmlns:a="http://schemas.openxmlformats.org/drawingml/2006/main">
              <a:ext uri="{FF2B5EF4-FFF2-40B4-BE49-F238E27FC236}">
                <a16:creationId xmlns:a16="http://schemas.microsoft.com/office/drawing/2014/main" id="{A595D1AC-0B74-455F-81DD-B4C6CDC0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62890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811B"/>
                </a:solidFill>
              </a:defRPr>
            </a:pPr>
            <a:r>
              <a:rPr sz="1350" b="1">
                <a:solidFill>
                  <a:srgbClr val="D8811B"/>
                </a:solidFill>
              </a:rPr>
              <a:t>DEPLOYMENT</a:t>
            </a:r>
          </a:p>
          <a:p xmlns:a="http://schemas.openxmlformats.org/drawingml/2006/main">
            <a:pPr algn="ctr">
              <a:defRPr sz="1350" b="1">
                <a:solidFill>
                  <a:srgbClr val="D8811B"/>
                </a:solidFill>
              </a:defRPr>
            </a:pPr>
            <a:r>
              <a:rPr sz="1350" b="1">
                <a:solidFill>
                  <a:srgbClr val="D8811B"/>
                </a:solidFill>
              </a:rPr>
              <a:t>sustained use</a:t>
            </a:r>
          </a:p>
        </p:txBody>
      </p:sp>
      <p:sp>
        <p:nvSpPr>
          <p:cNvPr id="17" name="clarity-foundation">
            <a:extLst xmlns:a="http://schemas.openxmlformats.org/drawingml/2006/main">
              <a:ext uri="{FF2B5EF4-FFF2-40B4-BE49-F238E27FC236}">
                <a16:creationId xmlns:a16="http://schemas.microsoft.com/office/drawing/2014/main" id="{33353D93-DAF1-4DCA-8005-2172BA2B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91250"/>
            <a:ext cx="9715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16193">
            <a:solidFill>
              <a:srgbClr val="68798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52"/>
                </a:solidFill>
              </a:defRPr>
            </a:pPr>
            <a:r>
              <a:rPr sz="1350" b="1">
                <a:solidFill>
                  <a:srgbClr val="123052"/>
                </a:solidFill>
              </a:rPr>
              <a:t>PRESERVE CLARITY + TRACEABILITY</a:t>
            </a:r>
          </a:p>
        </p:txBody>
      </p:sp>
    </p:spTree>
    <p:extLst>
      <p:ext uri="{BB962C8B-B14F-4D97-AF65-F5344CB8AC3E}">
        <p14:creationId xmlns:p14="http://schemas.microsoft.com/office/powerpoint/2010/main" val="1195535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2026-08-31T06:24:13.1070000Z</dcterms:created>
  <dcterms:modified xsi:type="dcterms:W3CDTF">2026-08-31T06:24:13.1070000Z</dcterms:modified>
</coreProperties>
</file>